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662FA8A-BACD-3AB6-33FB-855B49CE6D5E}">
          <p14:sldIdLst>
            <p14:sldId id="256"/>
          </p14:sldIdLst>
        </p14:section>
        <p14:section name="CSS3 Fundamentals" id="{1F1F10D1-38CF-0AA5-4944-D6E51972074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SS Syntax &amp; Selector Forms" id="{179E4153-20E2-982E-1822-175653C76A28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SS Property Value Forms" id="{4FA1A320-AE12-526E-934E-9BADF9C93999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SS Box Model &amp; Conflict Resolution" id="{6D20BD79-D14F-C1E8-42E8-C462B12C3A88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Flexbox Layout" id="{E25454F5-096F-5CBE-20D5-4BF1E4F6CB9E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CSS Grid Layout" id="{F917BB7B-CC52-3B36-D671-23D580CCEDF2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CSS3 Visual Features" id="{64F96818-BE2A-4C3D-C84B-119BC351EB5B}">
          <p14:sldIdLst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CSS Variables &amp; Responsive Design" id="{77EB5A6C-ED2B-6AE4-C231-76299C1C0B21}">
          <p14:sldIdLst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</p14:sldIdLst>
        </p14:section>
        <p14:section name="Bootstrap Basics" id="{D886D901-6A61-126D-3893-B61BAAAF43F7}">
          <p14:sldIdLst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</p14:sldIdLst>
        </p14:section>
        <p14:section name="Tailwind CSS Basics" id="{C0AE3E91-7DCD-86D7-87DA-8F43DEF1AAD8}">
          <p14:sldIdLst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</p14:sldIdLst>
        </p14:section>
        <p14:section name="Git &amp; GitHub Essentials" id="{FCF354AE-0B65-8917-2B56-F328DE838D78}">
          <p14:sldIdLst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</p14:sldIdLst>
        </p14:section>
        <p14:section name="Engineering Application &amp; Summary" id="{178C95C7-A5B5-02C9-5EBF-E8D505C29A36}">
          <p14:sldIdLst>
            <p14:sldId id="383"/>
            <p14:sldId id="384"/>
            <p14:sldId id="385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33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AI-Powered Full Stack Development  |  Module 2: CSS3, Bootstrap &amp; Tailwind CSS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LLE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AI-Powered Full Stack Development  |  Module 2: CSS3, Bootstrap &amp; Tailwind CSS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572000" cy="4572000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32588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92608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3258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AI-POWERED FULL STACK DEVELOPMENT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926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Module 2: CSS3, Bootstrap &amp; Tailwind CSS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Year 2026-27   |   Semester 3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accent2"/>
                </a:solidFill>
              </a:rPr>
              <a:t>Taught through one running example: the Profile Card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20840" y="274320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283464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06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3419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0" y="3639312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223760" y="3639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CSS3 Fundamentals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What CSS is, why we need it, and the three ways to attach it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 to CSS3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CSS (Cascading Style Sheets) describes how HTML elements look: colors, spacing, fonts and position.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 gives a page structure and content. Without CSS every page is plain black text on white.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CSS3 is the current version. It adds Flexbox, Grid, animations, gradients and custom variables.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HTML is the skeleton of a page, CSS is its skin, clothing and posture.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057400"/>
            <a:ext cx="164592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166360" y="2148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Asha Rao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Developer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u="sng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2057400"/>
            <a:ext cx="16459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214884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532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7340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2953512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0" y="29535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337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HTML only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337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HTML + CSS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Our Running Example: The Profile Card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topic in this module is shown on one small component, a profile card.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has an avatar, a name, a role, a skills list and a Contact button.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 will style, lay out, animate and ship this same card.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57200" y="315468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37360" y="3291840"/>
            <a:ext cx="16459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377440" y="338328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774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767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9684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4187952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194560" y="41879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2" name="Code panel"/>
          <p:cNvSpPr/>
          <p:nvPr/>
        </p:nvSpPr>
        <p:spPr>
          <a:xfrm>
            <a:off x="4892040" y="1188720"/>
            <a:ext cx="3794760" cy="2161540"/>
          </a:xfrm>
          <a:prstGeom prst="roundRect">
            <a:avLst>
              <a:gd name="adj" fmla="val 338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profile-card.html</a:t>
            </a:r>
            <a:endParaRPr lang="en-US" sz="1000" dirty="0"/>
          </a:p>
        </p:txBody>
      </p:sp>
      <p:sp>
        <p:nvSpPr>
          <p:cNvPr id="14" name="Code"/>
          <p:cNvSpPr txBox="1"/>
          <p:nvPr/>
        </p:nvSpPr>
        <p:spPr>
          <a:xfrm>
            <a:off x="5029200" y="1499616"/>
            <a:ext cx="3520440" cy="175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class="profile-card"&gt;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class="avatar" src="asha.jpg"&gt;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class="name"&gt;Asha Rao&lt;/h2&gt;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class="role"&gt;Web Developer&lt;/p&gt;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 class="skills"&gt;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&lt;li&gt;HTML&lt;/li&gt;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&lt;li&gt;CSS&lt;/li&gt;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class="btn" href="#"&gt;Contact&lt;/a&gt;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Why Do We Need CSS?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61391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80594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8059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13916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Separation of concerns: </a:t>
            </a:r>
            <a:r>
              <a:rPr lang="en-US" sz="1400" dirty="0">
                <a:solidFill>
                  <a:schemeClr val="tx1"/>
                </a:solidFill>
              </a:rPr>
              <a:t>CSS keeps styling out of HTML, so content and presentation change independently.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47345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55117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7345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Reusability: </a:t>
            </a:r>
            <a:r>
              <a:rPr lang="en-US" sz="1400" dirty="0">
                <a:solidFill>
                  <a:schemeClr val="tx1"/>
                </a:solidFill>
              </a:rPr>
              <a:t>One external CSS file can style hundreds of pages across a whole website.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10438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18211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043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Maintainability: </a:t>
            </a:r>
            <a:r>
              <a:rPr lang="en-US" sz="1400" dirty="0">
                <a:solidFill>
                  <a:schemeClr val="tx1"/>
                </a:solidFill>
              </a:rPr>
              <a:t>Change a color or font in one place and every page using it updates.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57200" y="373532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4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73532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Responsiveness: </a:t>
            </a:r>
            <a:r>
              <a:rPr lang="en-US" sz="1400" dirty="0">
                <a:solidFill>
                  <a:schemeClr val="tx1"/>
                </a:solidFill>
              </a:rPr>
              <a:t>CSS lets the same page adapt to a phone, a tablet and a desktop monitor.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How CSS Works with HTML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11960"/>
            <a:ext cx="4206240" cy="315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Step 1: </a:t>
            </a:r>
            <a:r>
              <a:rPr lang="en-US" sz="1600" dirty="0">
                <a:solidFill>
                  <a:schemeClr val="tx1"/>
                </a:solidFill>
              </a:rPr>
              <a:t>The browser parses your HTML and builds a tree of elements in memory, the DOM.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Step 2: </a:t>
            </a:r>
            <a:r>
              <a:rPr lang="en-US" sz="1600" dirty="0">
                <a:solidFill>
                  <a:schemeClr val="tx1"/>
                </a:solidFill>
              </a:rPr>
              <a:t>It reads your CSS rules and matches each rule's selector against the DOM tree.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Step 3: </a:t>
            </a:r>
            <a:r>
              <a:rPr lang="en-US" sz="1600" dirty="0">
                <a:solidFill>
                  <a:schemeClr val="tx1"/>
                </a:solidFill>
              </a:rPr>
              <a:t>Wherever a selector matches, the browser applies the declarations and paints the element.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11960"/>
            <a:ext cx="3794760" cy="1014984"/>
          </a:xfrm>
          <a:prstGeom prst="roundRect">
            <a:avLst>
              <a:gd name="adj" fmla="val 720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5668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82285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{          /* selector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teal;   /* declaration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Levels of Style Sheets: Overview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61391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69164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1391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CSS can be attached to HTML in three ways, and you will meet all three in real projects.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24485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32257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4485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Inline CSS: </a:t>
            </a:r>
            <a:r>
              <a:rPr lang="en-US" sz="1400" dirty="0">
                <a:solidFill>
                  <a:schemeClr val="tx1"/>
                </a:solidFill>
              </a:rPr>
              <a:t>Written on one element, using its style="..." attribute.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287578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295351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8757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Internal CSS: </a:t>
            </a:r>
            <a:r>
              <a:rPr lang="en-US" sz="1400" dirty="0">
                <a:solidFill>
                  <a:schemeClr val="tx1"/>
                </a:solidFill>
              </a:rPr>
              <a:t>Written in a &lt;style&gt; block in the &lt;head&gt;; applies to that one page only.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57200" y="350672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4"/>
          <p:cNvSpPr/>
          <p:nvPr/>
        </p:nvSpPr>
        <p:spPr>
          <a:xfrm>
            <a:off x="594360" y="369874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506724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External CSS: </a:t>
            </a:r>
            <a:r>
              <a:rPr lang="en-US" sz="1400" dirty="0">
                <a:solidFill>
                  <a:schemeClr val="tx1"/>
                </a:solidFill>
              </a:rPr>
              <a:t>Written in a separate .css file and linked with &lt;link&gt;. Real projects use this.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Inline CSS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97304"/>
            <a:ext cx="4206240" cy="306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style is written inside the element's own style attribute, as property:value pairs.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has the highest priority of the three, but mixing style into markup is hard to maintain.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it sparingly, for one-off tweaks or values that JavaScript sets dynamically.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97304"/>
            <a:ext cx="3794760" cy="1541780"/>
          </a:xfrm>
          <a:prstGeom prst="roundRect">
            <a:avLst>
              <a:gd name="adj" fmla="val 4745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521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08200"/>
            <a:ext cx="352044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 class="name"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style="color: teal;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font-size: 24px;"&gt;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Asha Rao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Internal CSS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40764"/>
            <a:ext cx="4206240" cy="3122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Written inside a &lt;style&gt; tag in the &lt;head&gt; of one HTML document.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element on that page can be styled from this one block.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styles do not carry over to other pages, so it does not scale to a multi-page site.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40764"/>
            <a:ext cx="3794760" cy="2192528"/>
          </a:xfrm>
          <a:prstGeom prst="roundRect">
            <a:avLst>
              <a:gd name="adj" fmla="val 333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5956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851660"/>
            <a:ext cx="3520440" cy="1781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.name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color: teal;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font-size: 24px;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External CSS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476756"/>
            <a:ext cx="4206240" cy="318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CSS lives in its own .css file and is connected with a &lt;link&gt; tag in the &lt;head&gt;.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is the industry standard: one style.css can be linked from every page.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Browsers also cache the file, so pages load faster.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476756"/>
            <a:ext cx="3794760" cy="891032"/>
          </a:xfrm>
          <a:prstGeom prst="roundRect">
            <a:avLst>
              <a:gd name="adj" fmla="val 821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5316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787652"/>
            <a:ext cx="3520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href="style.css"&gt;</a:t>
            </a:r>
            <a:endParaRPr lang="en-US" sz="1400" dirty="0"/>
          </a:p>
        </p:txBody>
      </p:sp>
      <p:sp>
        <p:nvSpPr>
          <p:cNvPr id="7" name="Code panel"/>
          <p:cNvSpPr/>
          <p:nvPr/>
        </p:nvSpPr>
        <p:spPr>
          <a:xfrm>
            <a:off x="4892040" y="2550668"/>
            <a:ext cx="3794760" cy="1324864"/>
          </a:xfrm>
          <a:prstGeom prst="roundRect">
            <a:avLst>
              <a:gd name="adj" fmla="val 55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file name"/>
          <p:cNvSpPr txBox="1"/>
          <p:nvPr/>
        </p:nvSpPr>
        <p:spPr>
          <a:xfrm>
            <a:off x="5029200" y="26055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5029200" y="2861564"/>
            <a:ext cx="3520440" cy="91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teal;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24px;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Inline vs Internal vs External: Which to Use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49961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69164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99616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External: </a:t>
            </a:r>
            <a:r>
              <a:rPr lang="en-US" sz="1400" dirty="0">
                <a:solidFill>
                  <a:schemeClr val="tx1"/>
                </a:solidFill>
              </a:rPr>
              <a:t>The practical default: clean separation, one file reused everywhere, easy to cache.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35915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43687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4368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5915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Internal: </a:t>
            </a:r>
            <a:r>
              <a:rPr lang="en-US" sz="1400" dirty="0">
                <a:solidFill>
                  <a:schemeClr val="tx1"/>
                </a:solidFill>
              </a:rPr>
              <a:t>Fine for a single standalone demo page or a quick prototype.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2990088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18211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90088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Inline: </a:t>
            </a:r>
            <a:r>
              <a:rPr lang="en-US" sz="1400" dirty="0">
                <a:solidFill>
                  <a:schemeClr val="tx1"/>
                </a:solidFill>
              </a:rPr>
              <a:t>Keep it for rare, dynamic overrides, such as a value JavaScript injects at runtime.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57200" y="384962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4"/>
          <p:cNvSpPr/>
          <p:nvPr/>
        </p:nvSpPr>
        <p:spPr>
          <a:xfrm>
            <a:off x="594360" y="392734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9273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84962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Rule of thumb: </a:t>
            </a:r>
            <a:r>
              <a:rPr lang="en-US" sz="1400" dirty="0">
                <a:solidFill>
                  <a:schemeClr val="tx1"/>
                </a:solidFill>
              </a:rPr>
              <a:t>Reach for external CSS unless you have a specific reason not 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Style the profile card's &lt;h2 class="name"&gt; three separate times: once inline, once internal, once external.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Which method was fastest for one change? Which would be easiest to maintain if the site grew to 20 pages?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CSS Syntax &amp; Selector Forms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Writing rules and choosing exactly what to style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CSS Syntax: The Rule Format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682648"/>
            <a:ext cx="4206240" cy="298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CSS rule follows this exact format, with no exceptions.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selector picks WHICH elements to style; the braces say HOW.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declaration is a property:value pair and ends with a semicolon. Forgetting it is a classic beginner bug.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682648"/>
            <a:ext cx="3794760" cy="1324864"/>
          </a:xfrm>
          <a:prstGeom prst="roundRect">
            <a:avLst>
              <a:gd name="adj" fmla="val 55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375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93544"/>
            <a:ext cx="3520440" cy="91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Selector Forms: Overview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61391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69164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1391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 selector is a pattern that tells the browser which elements a rule applies to.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244852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43687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4368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44852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Forms: universal, type, class, id, grouping, descendant, child, attribute, pseudo-class, pseudo-element.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10438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18211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043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right selector keeps your CSS short, readable and reusable.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57200" y="373532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4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73532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Next we walk through each form with a profile-card example.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Universal Selector ( * 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asterisk selects every element on the page.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mostly used as a "CSS reset" at the top of a stylesheet.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removes the inconsistent default margin and padding browsers add.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1541780"/>
          </a:xfrm>
          <a:prstGeom prst="roundRect">
            <a:avLst>
              <a:gd name="adj" fmla="val 4745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Type / Element Selector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00784"/>
            <a:ext cx="42062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Selects every element with a given tag name, such as every &lt;h2&gt; and every &lt;p&gt; in the card.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it for broad, page-wide defaults.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the least specific selector form, so anything else overrides it.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00784"/>
            <a:ext cx="3794760" cy="1758696"/>
          </a:xfrm>
          <a:prstGeom prst="roundRect">
            <a:avLst>
              <a:gd name="adj" fmla="val 415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556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11680"/>
            <a:ext cx="352044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bold;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1.6;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Class Selector ( . 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Selects every element carrying a given class, written with a leading dot.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class can be reused on as many elements as you like.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the selector form you will use most in day-to-day styling.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1464310"/>
          </a:xfrm>
          <a:prstGeom prst="roundRect">
            <a:avLst>
              <a:gd name="adj" fmla="val 499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 + 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105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class="role"&gt;Web Developer&lt;/p&gt;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.role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gray;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ID Selector ( # 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00784"/>
            <a:ext cx="42062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Selects the one element carrying a given id, written with a leading hash.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 id must be unique on the page.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targets one specific element, often as a JavaScript hook as much as for styling.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00784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556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 + 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11680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id="site-header"&gt;Asha.dev&lt;/div&gt;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#site-header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navy;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Class vs ID: Key Differences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70078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8928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00784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Reuse: </a:t>
            </a:r>
            <a:r>
              <a:rPr lang="en-US" sz="1400" dirty="0">
                <a:solidFill>
                  <a:schemeClr val="tx1"/>
                </a:solidFill>
              </a:rPr>
              <a:t>A class (.name) can be used on many elements; an id (#name) must appear once per page.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5603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7523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When to use: </a:t>
            </a:r>
            <a:r>
              <a:rPr lang="en-US" sz="1400" dirty="0">
                <a:solidFill>
                  <a:schemeClr val="tx1"/>
                </a:solidFill>
              </a:rPr>
              <a:t>Classes for repeatable patterns (cards, buttons, badges). Ids for one unique hook.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41985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6118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19856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Specificity: </a:t>
            </a:r>
            <a:r>
              <a:rPr lang="en-US" sz="1400" dirty="0">
                <a:solidFill>
                  <a:schemeClr val="tx1"/>
                </a:solidFill>
              </a:rPr>
              <a:t>An #id rule beats a .class rule on the same element, even if the class rule comes later.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Grouping Selector ( , 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comma applies one declaration block to several selectors at once.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keeps your stylesheet DRY (Don't Repeat Yourself).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Without it you would repeat the same lines for every heading level.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1324864"/>
          </a:xfrm>
          <a:prstGeom prst="roundRect">
            <a:avLst>
              <a:gd name="adj" fmla="val 55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91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h3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Georgia, serif;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#222;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Descendant Selector ( space 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space between two selectors matches any element nested anywhere inside the first.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Extra &lt;div&gt; or &lt;ul&gt; wrappers in between do not matter.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968502"/>
          </a:xfrm>
          <a:prstGeom prst="roundRect">
            <a:avLst>
              <a:gd name="adj" fmla="val 755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5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a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none;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340102"/>
            <a:ext cx="3794760" cy="2323338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5646420" y="2761107"/>
            <a:ext cx="1143000" cy="4663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89420" y="2761107"/>
            <a:ext cx="754380" cy="4663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7132320" y="3538347"/>
            <a:ext cx="411480" cy="3749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43800" y="3538347"/>
            <a:ext cx="548640" cy="3749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40780" y="2450211"/>
            <a:ext cx="109728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40780" y="2450211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.profile-card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32274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212080" y="32274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09460" y="32274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09460" y="32274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div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97980" y="39132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697980" y="39132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8100" y="39132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58100" y="39132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324731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.profile-card a: every &lt;a&gt;, any depth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Child Selector ( &gt; 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&gt; combinator is stricter than a space: it matches only a DIRECT child.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avoids styling deeply nested elements you did not intend to target.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968502"/>
          </a:xfrm>
          <a:prstGeom prst="roundRect">
            <a:avLst>
              <a:gd name="adj" fmla="val 755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5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&gt; p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340102"/>
            <a:ext cx="3794760" cy="2323338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5646420" y="2761107"/>
            <a:ext cx="1143000" cy="4663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89420" y="2761107"/>
            <a:ext cx="754380" cy="4663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7132320" y="3538347"/>
            <a:ext cx="411480" cy="3749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43800" y="3538347"/>
            <a:ext cx="548640" cy="3749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40780" y="2450211"/>
            <a:ext cx="109728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40780" y="2450211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.profile-card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32274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212080" y="32274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09460" y="32274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09460" y="32274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div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97980" y="39132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697980" y="39132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8100" y="3913251"/>
            <a:ext cx="86868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58100" y="3913251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324731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.profile-card &gt; a: direct child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Attribute Selector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00784"/>
            <a:ext cx="42062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Selects elements by the presence or exact value of an HTML attribute.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Handy for form inputs, where the tag is always &lt;input&gt; but the type changes.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00784"/>
            <a:ext cx="3794760" cy="1758696"/>
          </a:xfrm>
          <a:prstGeom prst="roundRect">
            <a:avLst>
              <a:gd name="adj" fmla="val 415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556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11680"/>
            <a:ext cx="352044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input[type="email"]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gray;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a[target="_blank"]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Pseudo-Class Selectors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97304"/>
            <a:ext cx="4206240" cy="306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pseudo-class selects an element by a special STATE, with no extra class in the HTML.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:hover fires while the mouse is over the element.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:focus fires while a field is active; :first-child and :nth-child pick by position.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97304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521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08200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orange;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input:focus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 2px solid blue;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li:first-child { font-weight: bold; 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Pseudo-Element Selectors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97304"/>
            <a:ext cx="4206240" cy="306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pseudo-element styles just a PART of an element, written with a double colon (::).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::first-line and ::first-letter style the start of a text block (the drop-cap effect).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::before and ::after insert generated content using only CSS.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97304"/>
            <a:ext cx="3794760" cy="1758696"/>
          </a:xfrm>
          <a:prstGeom prst="roundRect">
            <a:avLst>
              <a:gd name="adj" fmla="val 415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521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08200"/>
            <a:ext cx="352044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.role::first-letter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200%;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.name::before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 "Hi, 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Style a horizontal menu under the profile card: a class selector on the container, a descendant selector for the links, and :hover to change the link color.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What happens to your menu if you swap the descendant selector for a child selector?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CSS Property Value Forms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Fonts, lists, colors, alignment and backgrounds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Property Value Forms: Overview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92938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20071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20071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938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 value can be a keyword, a number, a length, a percentage, a color or a URL.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5603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7523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Absolute lengths (px, cm, in) never change; relative lengths (%, em, rem, vw, vh) scale with something else.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41985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4975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97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1985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This section covers font, list, color, text-alignment and background properties.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Font Properties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00784"/>
            <a:ext cx="42062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These four properties control the typeface of any text.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Always end the font-family list with a generic fallback (sans-serif, serif) in case the named font is missing.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00784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556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11680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.role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'Segoe UI', sans-serif;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600;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font-style: italic;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List Properties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620774"/>
            <a:ext cx="4206240" cy="304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Control the bullet or number style, and whether it sits inside or outside the text block.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common use: list-style: none on a &lt;ul&gt; that is really a navigation menu.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620774"/>
            <a:ext cx="3794760" cy="1867154"/>
          </a:xfrm>
          <a:prstGeom prst="roundRect">
            <a:avLst>
              <a:gd name="adj" fmla="val 391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7563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31670"/>
            <a:ext cx="3520440" cy="1455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.skills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list-style-type: square;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list-style-position: inside;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list-style-type: upper-roman;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Color Properties: Named, Hex, RGB, HSL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CSS can write the same color in four formats; pick the clearest for the situation.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Named colors (tomato) are the most readable; hex (#ff6347) is the most common in real projects.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rgb() reasons in channels; hsl() makes lighter and darker shades of one hue easy.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057400"/>
            <a:ext cx="1623060" cy="777240"/>
          </a:xfrm>
          <a:prstGeom prst="roundRect">
            <a:avLst>
              <a:gd name="adj" fmla="val 7059"/>
            </a:avLst>
          </a:prstGeom>
          <a:solidFill>
            <a:srgbClr val="FF6347"/>
          </a:solidFill>
          <a:ln w="6350">
            <a:solidFill>
              <a:srgbClr val="FF6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74920" y="205740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Named</a:t>
            </a:r>
            <a:endParaRPr lang="en-US" sz="10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tomato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80860" y="2057400"/>
            <a:ext cx="1623060" cy="777240"/>
          </a:xfrm>
          <a:prstGeom prst="roundRect">
            <a:avLst>
              <a:gd name="adj" fmla="val 7059"/>
            </a:avLst>
          </a:prstGeom>
          <a:solidFill>
            <a:srgbClr val="FF6347"/>
          </a:solidFill>
          <a:ln w="6350">
            <a:solidFill>
              <a:srgbClr val="FF6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80860" y="205740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Hex</a:t>
            </a:r>
            <a:endParaRPr lang="en-US" sz="10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#ff6347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74920" y="3017520"/>
            <a:ext cx="1623060" cy="777240"/>
          </a:xfrm>
          <a:prstGeom prst="roundRect">
            <a:avLst>
              <a:gd name="adj" fmla="val 7059"/>
            </a:avLst>
          </a:prstGeom>
          <a:solidFill>
            <a:srgbClr val="FF6347"/>
          </a:solidFill>
          <a:ln w="6350">
            <a:solidFill>
              <a:srgbClr val="FF6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301752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RGB</a:t>
            </a:r>
            <a:endParaRPr lang="en-US" sz="10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rgb(255,99,71)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80860" y="3017520"/>
            <a:ext cx="1623060" cy="777240"/>
          </a:xfrm>
          <a:prstGeom prst="roundRect">
            <a:avLst>
              <a:gd name="adj" fmla="val 7059"/>
            </a:avLst>
          </a:prstGeom>
          <a:solidFill>
            <a:srgbClr val="FF6347"/>
          </a:solidFill>
          <a:ln w="6350">
            <a:solidFill>
              <a:srgbClr val="FF6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80860" y="301752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HSL</a:t>
            </a:r>
            <a:endParaRPr lang="en-US" sz="10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hsl(9,100%,64%)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Text-Alignment Properties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00784"/>
            <a:ext cx="42062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Control horizontal alignment, casing and character spacing of text in its box.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text-align and letter-spacing are used constantly on headings and buttons.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00784"/>
            <a:ext cx="3794760" cy="1758696"/>
          </a:xfrm>
          <a:prstGeom prst="roundRect">
            <a:avLst>
              <a:gd name="adj" fmla="val 415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556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11680"/>
            <a:ext cx="352044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text-transform: uppercase;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letter-spacing: 2px;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.bio { text-align: justify; 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Background Properties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620774"/>
            <a:ext cx="4206240" cy="304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background-size: cover scales an image to fill its box completely, cropping if needed.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the standard choice for full-width hero banners, such as a banner behind the avatar.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620774"/>
            <a:ext cx="3794760" cy="1758696"/>
          </a:xfrm>
          <a:prstGeom prst="roundRect">
            <a:avLst>
              <a:gd name="adj" fmla="val 415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7563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31670"/>
            <a:ext cx="352044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.banner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#f4f4f4;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 url('bg.jpg');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background-size: cover;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background-repeat: no-repeat;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background-position: center;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Styling the Profile Card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realistic rule combining several property groups into one reusable class.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line is a small, understandable decision. Real stylesheets are built the same way.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#333;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#fff;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66460" y="3163062"/>
            <a:ext cx="16459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06540" y="3254502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06540" y="325450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66460" y="363855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66460" y="383971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23660" y="4059174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23660" y="405917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Design the profile card: centered text, a custom font-family, a soft background color and a skills list styled with list-style-type: square.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Which property group (font, list, color, alignment, background) changed the look the most?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CSS Box Model &amp; Conflict Resolution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How boxes are sized, and which rule wins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CSS Box Model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HTML element is a rectangular box, even inline text like a &lt;span&gt;.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Four layers stack from the inside out: content, padding, border, margin.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width = content + padding + border + margin (both sides of each).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this model to debug "why is there a weird gap here" problems.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97780" y="1554480"/>
            <a:ext cx="3383280" cy="2743200"/>
          </a:xfrm>
          <a:prstGeom prst="rect">
            <a:avLst/>
          </a:prstGeom>
          <a:solidFill>
            <a:schemeClr val="accent2">
              <a:alpha val="40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170932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MARGIN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1828" y="1938528"/>
            <a:ext cx="2615184" cy="1975104"/>
          </a:xfrm>
          <a:prstGeom prst="rect">
            <a:avLst/>
          </a:prstGeom>
          <a:solidFill>
            <a:schemeClr val="accent5">
              <a:alpha val="65000"/>
            </a:schemeClr>
          </a:solidFill>
          <a:ln w="381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554980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</a:rPr>
              <a:t>BORDER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65876" y="2322576"/>
            <a:ext cx="1847088" cy="1207008"/>
          </a:xfrm>
          <a:prstGeom prst="rect">
            <a:avLst/>
          </a:prstGeom>
          <a:solidFill>
            <a:schemeClr val="accent6">
              <a:alpha val="45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939028" y="2359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PADDING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9924" y="2706624"/>
            <a:ext cx="1078992" cy="438912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49924" y="27066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CONTENT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Content, Padding, Border, Margin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385011"/>
            <a:ext cx="4206240" cy="3278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Content: </a:t>
            </a:r>
            <a:r>
              <a:rPr lang="en-US" sz="1600" dirty="0">
                <a:solidFill>
                  <a:schemeClr val="tx1"/>
                </a:solidFill>
              </a:rPr>
              <a:t>The text, image or nested elements inside the box.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Padding: </a:t>
            </a:r>
            <a:r>
              <a:rPr lang="en-US" sz="1600" dirty="0">
                <a:solidFill>
                  <a:schemeClr val="tx1"/>
                </a:solidFill>
              </a:rPr>
              <a:t>Transparent space between content and border, inside the element's own background.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Border: </a:t>
            </a:r>
            <a:r>
              <a:rPr lang="en-US" sz="1600" dirty="0">
                <a:solidFill>
                  <a:schemeClr val="tx1"/>
                </a:solidFill>
              </a:rPr>
              <a:t>A line around the padding, with its own width, style and color.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Margin: </a:t>
            </a:r>
            <a:r>
              <a:rPr lang="en-US" sz="1600" dirty="0">
                <a:solidFill>
                  <a:schemeClr val="tx1"/>
                </a:solidFill>
              </a:rPr>
              <a:t>Transparent space outside the border, separating this box from its neighbors.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385011"/>
            <a:ext cx="3794760" cy="1541780"/>
          </a:xfrm>
          <a:prstGeom prst="roundRect">
            <a:avLst>
              <a:gd name="adj" fmla="val 4745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439875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695907"/>
            <a:ext cx="352044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#ddd;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16px;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box-sizing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460754"/>
            <a:ext cx="4206240" cy="320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box-sizing decides whether padding and border are ADDED to your width or INCLUDED in it.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Most developers set box-sizing: border-box globally because the width math is predictable.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460754"/>
            <a:ext cx="3794760" cy="2130552"/>
          </a:xfrm>
          <a:prstGeom prst="roundRect">
            <a:avLst>
              <a:gd name="adj" fmla="val 3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51561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771650"/>
            <a:ext cx="3520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.content-box {        /* default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 padding: 20px;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5px solid;  /* = 250px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.border-box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 padding: 20px;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5px solid;  /* = 200px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Margin Collapsing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682648"/>
            <a:ext cx="4206240" cy="298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Touching vertical margins collapse into ONE margin equal to the larger of the two, not their sum.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vertical margins collapse; horizontal margins never do.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Padding, a border, or display: flex on the parent prevents the collapse.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682648"/>
            <a:ext cx="3794760" cy="1541780"/>
          </a:xfrm>
          <a:prstGeom prst="roundRect">
            <a:avLst>
              <a:gd name="adj" fmla="val 4745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375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93544"/>
            <a:ext cx="352044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{ margin-bottom: 20px;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.role { margin-top: 30px;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gap between them = 30px,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not 50px */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Conflict Resolution: Specificity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When rules target the same element with different values, specificity decides the winner.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more specific selector always wins, regardless of which rule comes first in the file.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892040" y="151790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strongest  →  weakest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74920" y="1746504"/>
            <a:ext cx="338328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212080" y="17465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Inline style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2404872"/>
            <a:ext cx="283464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21208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#id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3063240"/>
            <a:ext cx="246888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1208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.class  [attr]  :pseudo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3721608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12080" y="3721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type (element)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Calculating Specificity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Specificity is scored as a tuple (inline, IDs, classes, types), compared left to right.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first difference decides the winner.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#nav .link always beats nav a, even if nav a is written later.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#nav .link    /* (0,1,1,0) strong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.name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/* (0,0,2,0) medium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        /* (0,0,0,2) weak   */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Conflict Resolution: Inheritance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682648"/>
            <a:ext cx="4206240" cy="298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color, font-family, font-size and line-height are INHERITED from parent to children.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margin, padding, border, width and background are NOT inherited by default.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inherit keyword forces a property to take its parent's value.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682648"/>
            <a:ext cx="3794760" cy="1309370"/>
          </a:xfrm>
          <a:prstGeom prst="roundRect">
            <a:avLst>
              <a:gd name="adj" fmla="val 558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375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93544"/>
            <a:ext cx="3520440" cy="897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#333;         /* inherited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Arial;  /* inherited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solid;   /* NOT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Conflict Resolution: The Cascade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72821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80594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8059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2821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Step 1: </a:t>
            </a:r>
            <a:r>
              <a:rPr lang="en-US" sz="1400" dirty="0">
                <a:solidFill>
                  <a:schemeClr val="tx1"/>
                </a:solidFill>
              </a:rPr>
              <a:t>Importance: an !important rule wins first.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35915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43687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4368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5915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Step 2: </a:t>
            </a:r>
            <a:r>
              <a:rPr lang="en-US" sz="1400" dirty="0">
                <a:solidFill>
                  <a:schemeClr val="tx1"/>
                </a:solidFill>
              </a:rPr>
              <a:t>Specificity: the more specific selector wins next.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299008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06781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0678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90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Step 3: </a:t>
            </a:r>
            <a:r>
              <a:rPr lang="en-US" sz="1400" dirty="0">
                <a:solidFill>
                  <a:schemeClr val="tx1"/>
                </a:solidFill>
              </a:rPr>
              <a:t>Source order: if still tied, the LAST rule in the file wins.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57200" y="362102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4"/>
          <p:cNvSpPr/>
          <p:nvPr/>
        </p:nvSpPr>
        <p:spPr>
          <a:xfrm>
            <a:off x="594360" y="369874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2102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This is why writing the same selector twice means the later one applies.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!important Rule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!important forces one declaration to override normal specificity and cascade rules.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powerful, but overuse makes a stylesheet very hard to debug.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Treat it as a last resort, not a habit.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798068"/>
          </a:xfrm>
          <a:prstGeom prst="roundRect">
            <a:avLst>
              <a:gd name="adj" fmla="val 916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.role { color: blue !important;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.role { color: red; }  /* ignored */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A profile-card paragraph gets three conflicting color rules: one inline, one on its #id and one on its .class. Predict which color shows.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Open your browser DevTools and check the Styles panel. Were you right?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Flexbox Layout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One-dimensional layout, rows or columns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 to Flexbox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Flexbox arranges items in a single row OR a single column and distributes space between them.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aligns items and shares space even when item sizes are unknown or change.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replaced the old float and positioning hacks.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011680"/>
            <a:ext cx="3429000" cy="155448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84648" y="212140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184648" y="2121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3016" y="212140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843016" y="2121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01384" y="212140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01384" y="2121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6210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items in one row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Flex Container vs Flex Items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container is the parent you apply display: flex to.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items are its direct children only, and they pick up flex behavior automatically.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main axis follows flex-direction; the cross axis runs perpendicular to it.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011680"/>
            <a:ext cx="3429000" cy="155448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84648" y="212140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184648" y="2121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3016" y="212140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843016" y="2121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01384" y="212140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01384" y="2121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6210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container (parent) and items (children)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Enabling Flexbox: display: flex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one line turns an ordinary element into a flex container.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direct child becomes a flex item and lines up in a row by default.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968502"/>
          </a:xfrm>
          <a:prstGeom prst="roundRect">
            <a:avLst>
              <a:gd name="adj" fmla="val 755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5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340102"/>
            <a:ext cx="3794760" cy="2323338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587371"/>
            <a:ext cx="3429000" cy="155448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2697099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84648" y="2697099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3016" y="2697099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43016" y="2697099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01384" y="2697099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01384" y="2697099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196715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display: flex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flex-direction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Sets which way the MAIN axis runs: row (default) or column.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Other values: row-reverse and column-reverse.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309370"/>
          </a:xfrm>
          <a:prstGeom prst="roundRect">
            <a:avLst>
              <a:gd name="adj" fmla="val 558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897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column;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row | row-reverse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column | column-reverse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680970"/>
            <a:ext cx="3794760" cy="1982470"/>
          </a:xfrm>
          <a:prstGeom prst="roundRect">
            <a:avLst>
              <a:gd name="adj" fmla="val 36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772410"/>
            <a:ext cx="3429000" cy="1525270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2882138"/>
            <a:ext cx="548640" cy="362119"/>
          </a:xfrm>
          <a:prstGeom prst="roundRect">
            <a:avLst>
              <a:gd name="adj" fmla="val 1515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84648" y="2882138"/>
            <a:ext cx="548640" cy="362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84648" y="3353985"/>
            <a:ext cx="548640" cy="362119"/>
          </a:xfrm>
          <a:prstGeom prst="roundRect">
            <a:avLst>
              <a:gd name="adj" fmla="val 1515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184648" y="3353985"/>
            <a:ext cx="548640" cy="362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84648" y="3825833"/>
            <a:ext cx="548640" cy="362119"/>
          </a:xfrm>
          <a:prstGeom prst="roundRect">
            <a:avLst>
              <a:gd name="adj" fmla="val 1515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84648" y="3825833"/>
            <a:ext cx="548640" cy="362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3525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flex-direction: column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justify-content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Controls how leftover space is distributed along the MAIN axis.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Values: flex-start, flex-end, center, space-between, space-around.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it to spread a logo and nav links to opposite ends of a navbar.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510536"/>
            <a:ext cx="3794760" cy="2152904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672588"/>
            <a:ext cx="3429000" cy="155448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2782316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84648" y="27823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15100" y="2782316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15100" y="27823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45552" y="2782316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845552" y="27823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2819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justify-content: space-between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align-items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Controls how items line up along the CROSS axis.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Values: flex-start, flex-end, center, stretch (default), baseline.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classic one-line fix for "how do I vertically center this".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510536"/>
            <a:ext cx="3794760" cy="2152904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672588"/>
            <a:ext cx="3429000" cy="155448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322122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84648" y="32212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3016" y="3084068"/>
            <a:ext cx="5486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43016" y="30840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01384" y="3289808"/>
            <a:ext cx="548640" cy="32004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01384" y="3289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2819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align-items: center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flex-wrap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By default items squeeze onto one line, shrinking if needed.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flex-wrap: wrap lets items flow onto extra lines instead.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Essential for responsive card grids and tag lists.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flex-wrap: wrap;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510536"/>
            <a:ext cx="3794760" cy="2152904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672588"/>
            <a:ext cx="3429000" cy="155448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2782316"/>
            <a:ext cx="8686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84648" y="27823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63056" y="2782316"/>
            <a:ext cx="8686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63056" y="27823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41464" y="2782316"/>
            <a:ext cx="8686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41464" y="27823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84648" y="3303524"/>
            <a:ext cx="8686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184648" y="330352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63056" y="3303524"/>
            <a:ext cx="8686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163056" y="330352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2819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flex-wrap: wrap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flex-grow, flex-shrink, flex-basis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These control how one item grows or shrinks relative to its siblings.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flex-grow: 1 on every item shares leftover space equally.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309370"/>
          </a:xfrm>
          <a:prstGeom prst="roundRect">
            <a:avLst>
              <a:gd name="adj" fmla="val 558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897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.skills li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flex-grow: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flex-shrink: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flex-basis: 80px;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680970"/>
            <a:ext cx="3794760" cy="1982470"/>
          </a:xfrm>
          <a:prstGeom prst="roundRect">
            <a:avLst>
              <a:gd name="adj" fmla="val 36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772410"/>
            <a:ext cx="3429000" cy="1525270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2882138"/>
            <a:ext cx="996696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84648" y="2882138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2882138"/>
            <a:ext cx="996696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91072" y="2882138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97496" y="2882138"/>
            <a:ext cx="996696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397496" y="2882138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3525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flex-grow: 1 on every item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gap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 even spacing BETWEEN flex items without margin hacks.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Always prefer gap over manual margins.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510536"/>
            <a:ext cx="3794760" cy="2152904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672588"/>
            <a:ext cx="3429000" cy="155448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2782316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84648" y="27823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48" y="2782316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099048" y="27823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13448" y="2782316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013448" y="27823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2819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gap: 16px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A Navbar with Flexbox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logo on the left and links on the right, both vertically centered.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flex containers: the outer .navbar, and the inner &lt;ul&gt; that lays links in a row.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12px 24px;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ul { display: flex; gap: 20px; 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3499739"/>
            <a:ext cx="34290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212080" y="3499739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Asha.dev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499739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bg1"/>
                </a:solidFill>
              </a:rPr>
              <a:t>Home    About    Contact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4030091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logo left, links right, centered vertically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Build a row of three profile cards that stays centered, wraps onto a new line on small screens and keeps equal spacing, using only Flexbox properties and no manual margins.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Which three properties did you need?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CSS Grid Layout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Two-dimensional layout, rows and columns together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 to CSS Grid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Grid lays items out in rows AND columns at the same time.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suits whole-page layouts: header, sidebar, main content and footer.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Flexbox is one-dimensional; Grid is two-dimensional. Real projects often combine them.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1783080"/>
            <a:ext cx="1094232" cy="969264"/>
          </a:xfrm>
          <a:prstGeom prst="roundRect">
            <a:avLst>
              <a:gd name="adj" fmla="val 566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74920" y="1783080"/>
            <a:ext cx="1094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2304" y="1783080"/>
            <a:ext cx="1094232" cy="969264"/>
          </a:xfrm>
          <a:prstGeom prst="roundRect">
            <a:avLst>
              <a:gd name="adj" fmla="val 566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242304" y="1783080"/>
            <a:ext cx="1094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9688" y="1783080"/>
            <a:ext cx="1094232" cy="969264"/>
          </a:xfrm>
          <a:prstGeom prst="roundRect">
            <a:avLst>
              <a:gd name="adj" fmla="val 566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09688" y="1783080"/>
            <a:ext cx="1094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2825496"/>
            <a:ext cx="1094232" cy="969264"/>
          </a:xfrm>
          <a:prstGeom prst="roundRect">
            <a:avLst>
              <a:gd name="adj" fmla="val 566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74920" y="2825496"/>
            <a:ext cx="1094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2304" y="2825496"/>
            <a:ext cx="1094232" cy="969264"/>
          </a:xfrm>
          <a:prstGeom prst="roundRect">
            <a:avLst>
              <a:gd name="adj" fmla="val 566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42304" y="2825496"/>
            <a:ext cx="1094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9688" y="2825496"/>
            <a:ext cx="1094232" cy="969264"/>
          </a:xfrm>
          <a:prstGeom prst="roundRect">
            <a:avLst>
              <a:gd name="adj" fmla="val 566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09688" y="2825496"/>
            <a:ext cx="1094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8496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rows and columns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grid-template-columns &amp; grid-template-rows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Defines how many columns and rows the grid has, and the size of each.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 means a fraction of the available space: here the middle column is twice the outer ones.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309370"/>
          </a:xfrm>
          <a:prstGeom prst="roundRect">
            <a:avLst>
              <a:gd name="adj" fmla="val 558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897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2fr 1fr;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 100px auto;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680970"/>
            <a:ext cx="3794760" cy="1982470"/>
          </a:xfrm>
          <a:prstGeom prst="roundRect">
            <a:avLst>
              <a:gd name="adj" fmla="val 36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795270"/>
            <a:ext cx="820674" cy="703199"/>
          </a:xfrm>
          <a:prstGeom prst="roundRect">
            <a:avLst>
              <a:gd name="adj" fmla="val 7802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2795270"/>
            <a:ext cx="820674" cy="703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1fr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68746" y="2795270"/>
            <a:ext cx="1641348" cy="703199"/>
          </a:xfrm>
          <a:prstGeom prst="roundRect">
            <a:avLst>
              <a:gd name="adj" fmla="val 7802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68746" y="2795270"/>
            <a:ext cx="1641348" cy="703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2fr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3246" y="2795270"/>
            <a:ext cx="820674" cy="703199"/>
          </a:xfrm>
          <a:prstGeom prst="roundRect">
            <a:avLst>
              <a:gd name="adj" fmla="val 7802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683246" y="2795270"/>
            <a:ext cx="820674" cy="703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1fr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3571621"/>
            <a:ext cx="820674" cy="703199"/>
          </a:xfrm>
          <a:prstGeom prst="roundRect">
            <a:avLst>
              <a:gd name="adj" fmla="val 7802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74920" y="3571621"/>
            <a:ext cx="820674" cy="703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1fr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68746" y="3571621"/>
            <a:ext cx="1641348" cy="703199"/>
          </a:xfrm>
          <a:prstGeom prst="roundRect">
            <a:avLst>
              <a:gd name="adj" fmla="val 7802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68746" y="3571621"/>
            <a:ext cx="1641348" cy="703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2fr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3246" y="3571621"/>
            <a:ext cx="820674" cy="703199"/>
          </a:xfrm>
          <a:prstGeom prst="roundRect">
            <a:avLst>
              <a:gd name="adj" fmla="val 7802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683246" y="3571621"/>
            <a:ext cx="820674" cy="703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1fr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3296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1fr 2fr 1fr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gap Property in Grid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 spacing between rows and columns in one declaration.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repeat(3, 1fr) is shorthand for 1fr 1fr 1fr.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repeat(3, 1fr);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965704"/>
            <a:ext cx="1033272" cy="572262"/>
          </a:xfrm>
          <a:prstGeom prst="roundRect">
            <a:avLst>
              <a:gd name="adj" fmla="val 958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2965704"/>
            <a:ext cx="1033272" cy="57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2965704"/>
            <a:ext cx="1033272" cy="572262"/>
          </a:xfrm>
          <a:prstGeom prst="roundRect">
            <a:avLst>
              <a:gd name="adj" fmla="val 958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272784" y="2965704"/>
            <a:ext cx="1033272" cy="57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70648" y="2965704"/>
            <a:ext cx="1033272" cy="572262"/>
          </a:xfrm>
          <a:prstGeom prst="roundRect">
            <a:avLst>
              <a:gd name="adj" fmla="val 9587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70648" y="2965704"/>
            <a:ext cx="1033272" cy="57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3702558"/>
            <a:ext cx="1033272" cy="572262"/>
          </a:xfrm>
          <a:prstGeom prst="roundRect">
            <a:avLst>
              <a:gd name="adj" fmla="val 958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74920" y="3702558"/>
            <a:ext cx="1033272" cy="57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3702558"/>
            <a:ext cx="1033272" cy="572262"/>
          </a:xfrm>
          <a:prstGeom prst="roundRect">
            <a:avLst>
              <a:gd name="adj" fmla="val 9587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72784" y="3702558"/>
            <a:ext cx="1033272" cy="57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70648" y="3702558"/>
            <a:ext cx="1033272" cy="572262"/>
          </a:xfrm>
          <a:prstGeom prst="roundRect">
            <a:avLst>
              <a:gd name="adj" fmla="val 958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470648" y="3702558"/>
            <a:ext cx="1033272" cy="57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3296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gap: 20px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grid-column &amp; grid-row: Spanning Cells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Lets one item stretch across several columns and/or rows.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numbers are grid LINES, not tracks: 1 / 3 spans two column tracks.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.featured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grid-column: 1 / 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grid-row: 1 / 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510536"/>
            <a:ext cx="3794760" cy="2152904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624836"/>
            <a:ext cx="2261616" cy="1075605"/>
          </a:xfrm>
          <a:prstGeom prst="roundRect">
            <a:avLst>
              <a:gd name="adj" fmla="val 5101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2624836"/>
            <a:ext cx="2261616" cy="107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.featured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9688" y="2624836"/>
            <a:ext cx="1094232" cy="501227"/>
          </a:xfrm>
          <a:prstGeom prst="roundRect">
            <a:avLst>
              <a:gd name="adj" fmla="val 10946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09688" y="2624836"/>
            <a:ext cx="1094232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9688" y="3199215"/>
            <a:ext cx="1094232" cy="501227"/>
          </a:xfrm>
          <a:prstGeom prst="roundRect">
            <a:avLst>
              <a:gd name="adj" fmla="val 10946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09688" y="3199215"/>
            <a:ext cx="1094232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3773593"/>
            <a:ext cx="1094232" cy="501227"/>
          </a:xfrm>
          <a:prstGeom prst="roundRect">
            <a:avLst>
              <a:gd name="adj" fmla="val 10946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74920" y="3773593"/>
            <a:ext cx="1094232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2304" y="3773593"/>
            <a:ext cx="1094232" cy="501227"/>
          </a:xfrm>
          <a:prstGeom prst="roundRect">
            <a:avLst>
              <a:gd name="adj" fmla="val 10946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42304" y="3773593"/>
            <a:ext cx="1094232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9688" y="3773593"/>
            <a:ext cx="1094232" cy="501227"/>
          </a:xfrm>
          <a:prstGeom prst="roundRect">
            <a:avLst>
              <a:gd name="adj" fmla="val 1094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409688" y="3773593"/>
            <a:ext cx="1094232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3296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.featured spans 2 columns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grid-template-areas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Lets you NAME regions, so layout code reads like a visual map.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Repeating a name across cells makes that item span all of them.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.layout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"header header"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"sidebar content";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 { grid-area: header; 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3136138"/>
            <a:ext cx="3429000" cy="355177"/>
          </a:xfrm>
          <a:prstGeom prst="roundRect">
            <a:avLst>
              <a:gd name="adj" fmla="val 1544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3136138"/>
            <a:ext cx="3429000" cy="35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header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3564467"/>
            <a:ext cx="1118616" cy="710353"/>
          </a:xfrm>
          <a:prstGeom prst="roundRect">
            <a:avLst>
              <a:gd name="adj" fmla="val 772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74920" y="3564467"/>
            <a:ext cx="1118616" cy="710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sidebar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6688" y="3564467"/>
            <a:ext cx="2237232" cy="710353"/>
          </a:xfrm>
          <a:prstGeom prst="roundRect">
            <a:avLst>
              <a:gd name="adj" fmla="val 7723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66688" y="3564467"/>
            <a:ext cx="2237232" cy="710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content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43296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header / sidebar / content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A Page Layout with Grid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common sidebar + content page shell in a handful of lines.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how many lines the float-based version needed.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220px 1fr;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 80px 1fr 60px;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965704"/>
            <a:ext cx="3429000" cy="242253"/>
          </a:xfrm>
          <a:prstGeom prst="roundRect">
            <a:avLst>
              <a:gd name="adj" fmla="val 2264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2965704"/>
            <a:ext cx="3429000" cy="24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header (80px)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3281109"/>
            <a:ext cx="838962" cy="726757"/>
          </a:xfrm>
          <a:prstGeom prst="roundRect">
            <a:avLst>
              <a:gd name="adj" fmla="val 754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74920" y="3281109"/>
            <a:ext cx="838962" cy="7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sidebar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7034" y="3281109"/>
            <a:ext cx="2516886" cy="726757"/>
          </a:xfrm>
          <a:prstGeom prst="roundRect">
            <a:avLst>
              <a:gd name="adj" fmla="val 7549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87034" y="3281109"/>
            <a:ext cx="2516886" cy="7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main (1fr)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081018"/>
            <a:ext cx="3429000" cy="193802"/>
          </a:xfrm>
          <a:prstGeom prst="roundRect">
            <a:avLst>
              <a:gd name="adj" fmla="val 28309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74920" y="4081018"/>
            <a:ext cx="3429000" cy="19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footer (60px)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43296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header, sidebar, main, footer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Flexbox vs Grid: When to Use Which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Flexbox: </a:t>
            </a:r>
            <a:r>
              <a:rPr lang="en-US" sz="1400" dirty="0">
                <a:solidFill>
                  <a:schemeClr val="tx1"/>
                </a:solidFill>
              </a:rPr>
              <a:t>Arranging items along ONE dimension: a navbar, a row of buttons, a card list.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Grid: </a:t>
            </a:r>
            <a:r>
              <a:rPr lang="en-US" sz="1400" dirty="0">
                <a:solidFill>
                  <a:schemeClr val="tx1"/>
                </a:solidFill>
              </a:rPr>
              <a:t>Arranging items in TWO dimensions: a page layout, a gallery, a dashboard.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Together: </a:t>
            </a:r>
            <a:r>
              <a:rPr lang="en-US" sz="1400" dirty="0">
                <a:solidFill>
                  <a:schemeClr val="tx1"/>
                </a:solidFill>
              </a:rPr>
              <a:t>The common pattern is Grid for the page shell, Flexbox inside individual cells.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74920" y="13716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Flexbox: one 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4920" y="1645920"/>
            <a:ext cx="78867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74920" y="1645920"/>
            <a:ext cx="788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55030" y="1645920"/>
            <a:ext cx="78867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55030" y="1645920"/>
            <a:ext cx="788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35140" y="1645920"/>
            <a:ext cx="78867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35140" y="1645920"/>
            <a:ext cx="788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15250" y="1645920"/>
            <a:ext cx="78867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15250" y="1645920"/>
            <a:ext cx="788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3774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Grid: two dimensions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265176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74920" y="265176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55030" y="265176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955030" y="265176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35140" y="265176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35140" y="265176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15250" y="265176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15250" y="265176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329184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074920" y="329184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55030" y="329184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955030" y="329184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35140" y="329184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35140" y="329184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15250" y="3291840"/>
            <a:ext cx="78867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715250" y="3291840"/>
            <a:ext cx="788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Recreate a simple blog layout (header, sidebar, main article, footer) using grid-template-areas, with the profile card in the sidebar.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Then rebuild it with Flexbox only. Which was harder?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CSS3 Visual Features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Shadows, transparency, rounded corners and motion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box-shadow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 a soft drop shadow around an element's box.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easiest way to add depth to cards, modals and buttons.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Values: offset-x, offset-y, blur-radius, color.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4px 12px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rgba(0,0,0,0.15);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510536"/>
            <a:ext cx="3794760" cy="2152904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66460" y="2992628"/>
            <a:ext cx="16459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06540" y="308406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06540" y="30840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66460" y="34681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66460" y="36692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23660" y="3888740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23660" y="38887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opacity Property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Controls transparency of the whole element, INCLUDING all its children.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 and images fade together.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0 is fully transparent, 1 is fully opaque.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968502"/>
          </a:xfrm>
          <a:prstGeom prst="roundRect">
            <a:avLst>
              <a:gd name="adj" fmla="val 755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5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.profile-card.faded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0.6;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340102"/>
            <a:ext cx="3794760" cy="2323338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0" y="2770251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0" y="2861691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15000" y="28616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24573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446907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3666363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366636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2770251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45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0" y="2861691"/>
            <a:ext cx="365760" cy="36576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0" y="28616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>
                    <a:alpha val="45000"/>
                  </a:schemeClr>
                </a:solidFill>
              </a:rPr>
              <a:t>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24573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alpha val="45000"/>
                  </a:schemeClr>
                </a:solidFill>
              </a:rPr>
              <a:t>Asha Rao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446907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>
                    <a:alpha val="45000"/>
                  </a:schemeClr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3666363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15200" y="366636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>
                    <a:alpha val="45000"/>
                  </a:schemeClr>
                </a:solidFill>
              </a:rPr>
              <a:t>Contact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05041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opacity: 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05041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opacity: 0.6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Rounded Corners: border-radius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small radius (8px) softens corners on cards and buttons.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50% on a square element makes a perfect circle, the standard trick for avatars.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.avatar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50%;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0" y="3025902"/>
            <a:ext cx="137160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0" y="3117342"/>
            <a:ext cx="365760" cy="36576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15000" y="311734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50139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70255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3922014"/>
            <a:ext cx="731520" cy="219456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392201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3025902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0" y="3117342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0" y="311734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50139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70255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3922014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15200" y="392201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30606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square corners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30606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8px + 50% avatar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CSS Transitions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transition smoothly animates a property change over a set duration.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Always pair it with a state change such as :hover or :focus.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its own it does nothing.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royalblue;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background 0.3s ease;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darkblue;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57800" y="3431159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4169E1"/>
          </a:solidFill>
          <a:ln w="635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257800" y="3431159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Contact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3431159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0008B"/>
          </a:solidFill>
          <a:ln w="6350">
            <a:solidFill>
              <a:srgbClr val="000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49440" y="3431159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Contact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397979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royalblue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97979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:hover darkblue (0.3s)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CSS Animations: @keyframes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@keyframes defines a multi-step animation with a name.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Unlike a transition, an animation can run on page load and repeat forever, like a loading spinner.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 transform: rotate(0deg);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  { transform: rotate(360deg);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.loader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animation: spin 1s linear infinite;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0780" y="3133979"/>
            <a:ext cx="1097280" cy="1097280"/>
          </a:xfrm>
          <a:prstGeom prst="ellipse">
            <a:avLst/>
          </a:prstGeom>
          <a:ln w="63500">
            <a:solidFill>
              <a:schemeClr val="accent5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79692" y="3024251"/>
            <a:ext cx="219456" cy="21945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4340987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rotate(360deg) forever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A Button Hover Transition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small upward lift plus a deepening shadow, both animated.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very common "button feels alive" micro-interaction, here on the Contact button.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transform 0.2s;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translateY(-3px);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0" y="3220847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0" y="3312287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15000" y="33122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69633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89750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4116959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4116959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3147695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0" y="3239135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0" y="323913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62318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824351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4043807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15200" y="4043807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43699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normal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436999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:hover  lifted + deeper shadow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A Loading Spinner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circular border with one colored edge, spun by the @keyframes spin animation.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it while the profile card's data loads.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.spinner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40px; height: 40px;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4px solid #eee;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border-top-color: royalblue;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50%;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animation: spin 0.8s linear infinite;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0780" y="3133979"/>
            <a:ext cx="1097280" cy="1097280"/>
          </a:xfrm>
          <a:prstGeom prst="ellipse">
            <a:avLst/>
          </a:prstGeom>
          <a:ln w="63500">
            <a:solidFill>
              <a:schemeClr val="accent5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79692" y="3024251"/>
            <a:ext cx="219456" cy="21945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4340987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rotate(360deg) forever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Build a profile card that lifts up with a growing shadow on hover, using only box-shadow, transform and transition.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No JavaScript is needed for this kind of interactivity.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CSS Variables &amp; Responsive Design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Reusable values, media queries and mobile-first CSS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CSS Variables (Custom Properties)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00784"/>
            <a:ext cx="42062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Store a value once, name it, and reuse the name anywhere.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Write them with a double-hyphen prefix (--main-color) and read them with var().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Change the value in one place and every rule using it updates.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00784"/>
            <a:ext cx="3794760" cy="1758696"/>
          </a:xfrm>
          <a:prstGeom prst="roundRect">
            <a:avLst>
              <a:gd name="adj" fmla="val 415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556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11680"/>
            <a:ext cx="352044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--main-color: #0b7a70;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var(--main-color);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Declaring &amp; Using Variables: :root and var()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40764"/>
            <a:ext cx="4206240" cy="3122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:root is the whole document, so variables declared there are global.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var(--x, blue) gives a fallback if the variable is undefined.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40764"/>
            <a:ext cx="3794760" cy="1944624"/>
          </a:xfrm>
          <a:prstGeom prst="roundRect">
            <a:avLst>
              <a:gd name="adj" fmla="val 376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5956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851660"/>
            <a:ext cx="3520440" cy="153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--primary-color: #4f46e5;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--spacing: 16px;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var(--primary-color);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var(--spacing);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A Theme with CSS Variables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Swapping one data-theme attribute re-themes the whole site.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JavaScript styling logic is needed.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820672"/>
          </a:xfrm>
          <a:prstGeom prst="roundRect">
            <a:avLst>
              <a:gd name="adj" fmla="val 401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40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 --bg: #fff; --text: #111;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[data-theme='dark']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--bg: #111; --text: #fff;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var(--bg);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var(--text);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192272"/>
            <a:ext cx="3794760" cy="1471168"/>
          </a:xfrm>
          <a:prstGeom prst="roundRect">
            <a:avLst>
              <a:gd name="adj" fmla="val 497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0" y="3196336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0" y="3287776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15000" y="3287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671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872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4092448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4092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3196336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0" y="3287776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0" y="3287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671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872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4092448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15200" y="4092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476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light theme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4764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data-theme="dark"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Media Queries: Recap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media query wraps rules that apply only when a viewport condition is true.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HTML page can carry layouts for phones, tablets and desktops.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They are the building block under every responsive website.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171700"/>
            <a:ext cx="173736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38928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90616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2304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92040" y="34884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Desktop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6713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&gt; 992px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80860" y="2057400"/>
            <a:ext cx="1005840" cy="13258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4868" y="2148840"/>
            <a:ext cx="416052" cy="1143000"/>
          </a:xfrm>
          <a:prstGeom prst="roundRect">
            <a:avLst>
              <a:gd name="adj" fmla="val 1318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2148840"/>
            <a:ext cx="416052" cy="1143000"/>
          </a:xfrm>
          <a:prstGeom prst="roundRect">
            <a:avLst>
              <a:gd name="adj" fmla="val 1318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97980" y="34884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Tablet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97980" y="36713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577–992px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2171700"/>
            <a:ext cx="5486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9288" y="2263140"/>
            <a:ext cx="420624" cy="914400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0" y="34884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Mobile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6713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&lt; 576px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Media Query Syntax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80794"/>
            <a:ext cx="4206240" cy="288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Everything inside the block applies only when the viewport matches the condition.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Here the sidebar disappears at 768px or narrower, a common mobile pattern.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80794"/>
            <a:ext cx="3794760" cy="1541780"/>
          </a:xfrm>
          <a:prstGeom prst="roundRect">
            <a:avLst>
              <a:gd name="adj" fmla="val 4745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3565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91690"/>
            <a:ext cx="352044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.sidebar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display: none;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Common Breakpoints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Mobile: </a:t>
            </a:r>
            <a:r>
              <a:rPr lang="en-US" sz="1400" dirty="0">
                <a:solidFill>
                  <a:schemeClr val="tx1"/>
                </a:solidFill>
              </a:rPr>
              <a:t>Roughly up to 576px wide.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Tablet: </a:t>
            </a:r>
            <a:r>
              <a:rPr lang="en-US" sz="1400" dirty="0">
                <a:solidFill>
                  <a:schemeClr val="tx1"/>
                </a:solidFill>
              </a:rPr>
              <a:t>Roughly 577px to 992px wide.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Desktop: </a:t>
            </a:r>
            <a:r>
              <a:rPr lang="en-US" sz="1400" dirty="0">
                <a:solidFill>
                  <a:schemeClr val="tx1"/>
                </a:solidFill>
              </a:rPr>
              <a:t>Roughly 993px and above.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Treat these as guidelines. Design for where YOUR content starts to look cramped.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171700"/>
            <a:ext cx="173736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38928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90616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2304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92040" y="34884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Desktop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6713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&gt; 992px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80860" y="2057400"/>
            <a:ext cx="1005840" cy="13258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4868" y="2148840"/>
            <a:ext cx="416052" cy="1143000"/>
          </a:xfrm>
          <a:prstGeom prst="roundRect">
            <a:avLst>
              <a:gd name="adj" fmla="val 1318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2148840"/>
            <a:ext cx="416052" cy="1143000"/>
          </a:xfrm>
          <a:prstGeom prst="roundRect">
            <a:avLst>
              <a:gd name="adj" fmla="val 1318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97980" y="34884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Tablet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97980" y="36713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577–992px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2171700"/>
            <a:ext cx="5486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9288" y="2263140"/>
            <a:ext cx="420624" cy="914400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0" y="34884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Mobile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6713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&lt; 576px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Mobile-First Design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Write base CSS for the smallest screen first; every device gets it.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min-width media queries to add complexity as space grows.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result is leaner CSS and a better experience on constrained devices.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1464310"/>
          </a:xfrm>
          <a:prstGeom prst="roundRect">
            <a:avLst>
              <a:gd name="adj" fmla="val 499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105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.profile-card { width: 100%;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.profile-card { width: 320px;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A Responsive Media Query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column by default (mobile-first), then three columns from tablet width up.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57200" y="315468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3246120"/>
            <a:ext cx="100584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3337560"/>
            <a:ext cx="859536" cy="237744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333756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3630168"/>
            <a:ext cx="859536" cy="237744"/>
          </a:xfrm>
          <a:prstGeom prst="roundRect">
            <a:avLst>
              <a:gd name="adj" fmla="val 2307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363016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3922776"/>
            <a:ext cx="859536" cy="237744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04672" y="392277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447288"/>
            <a:ext cx="2377440" cy="603504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84832" y="3538728"/>
            <a:ext cx="707136" cy="420624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084832" y="3538728"/>
            <a:ext cx="70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46832" y="3538728"/>
            <a:ext cx="707136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846832" y="3538728"/>
            <a:ext cx="70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08832" y="3538728"/>
            <a:ext cx="707136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608832" y="3538728"/>
            <a:ext cx="70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06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mobile: 1 column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306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tablet and up: 3 columns</a:t>
            </a:r>
            <a:endParaRPr lang="en-US" sz="1000" dirty="0"/>
          </a:p>
        </p:txBody>
      </p:sp>
      <p:sp>
        <p:nvSpPr>
          <p:cNvPr id="21" name="Code panel"/>
          <p:cNvSpPr/>
          <p:nvPr/>
        </p:nvSpPr>
        <p:spPr>
          <a:xfrm>
            <a:off x="4892040" y="1188720"/>
            <a:ext cx="3794760" cy="2161540"/>
          </a:xfrm>
          <a:prstGeom prst="roundRect">
            <a:avLst>
              <a:gd name="adj" fmla="val 338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style.css</a:t>
            </a:r>
            <a:endParaRPr lang="en-US" sz="1000" dirty="0"/>
          </a:p>
        </p:txBody>
      </p:sp>
      <p:sp>
        <p:nvSpPr>
          <p:cNvPr id="23" name="Code"/>
          <p:cNvSpPr txBox="1"/>
          <p:nvPr/>
        </p:nvSpPr>
        <p:spPr>
          <a:xfrm>
            <a:off x="5029200" y="1499616"/>
            <a:ext cx="3520440" cy="175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.cards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repeat(3, 1fr);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Take a 3-column layout of profile cards and make it collapse to one column below 600px, written mobile-first with a min-width media query.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Test it by dragging your browser window narrower.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Bootstrap Basics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 ready-made component framework with a 12-column grid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 to Bootstrap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204368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21214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4368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Bootstrap is the most widely used CSS framework for building responsive sites quickly.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6746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7523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7462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It ships pre-styled components: buttons, navbars, cards, forms, modals and more.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30555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3832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0555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Everything sits on a flexible 12-column responsive grid.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Why Use a CSS Framework?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72821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80594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8059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2821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Speed: </a:t>
            </a:r>
            <a:r>
              <a:rPr lang="en-US" sz="1400" dirty="0">
                <a:solidFill>
                  <a:schemeClr val="tx1"/>
                </a:solidFill>
              </a:rPr>
              <a:t>No need to write layout and component CSS from scratch.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35915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43687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4368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5915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Consistency: </a:t>
            </a:r>
            <a:r>
              <a:rPr lang="en-US" sz="1400" dirty="0">
                <a:solidFill>
                  <a:schemeClr val="tx1"/>
                </a:solidFill>
              </a:rPr>
              <a:t>Components are already tested across browsers and devices.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299008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06781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0678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90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Built-in: </a:t>
            </a:r>
            <a:r>
              <a:rPr lang="en-US" sz="1400" dirty="0">
                <a:solidFill>
                  <a:schemeClr val="tx1"/>
                </a:solidFill>
              </a:rPr>
              <a:t>Responsiveness and sensible accessibility defaults come with the components.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57200" y="362102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4"/>
          <p:cNvSpPr/>
          <p:nvPr/>
        </p:nvSpPr>
        <p:spPr>
          <a:xfrm>
            <a:off x="594360" y="369874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2102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Trade-off: </a:t>
            </a:r>
            <a:r>
              <a:rPr lang="en-US" sz="1400" dirty="0">
                <a:solidFill>
                  <a:schemeClr val="tx1"/>
                </a:solidFill>
              </a:rPr>
              <a:t>Sites can look alike unless you customize the theme.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Setting Up Bootstrap: CDN vs npm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56766"/>
            <a:ext cx="4206240" cy="310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CDN link is the fastest start: paste one tag and the classes work.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bundlers (Vite, Webpack), npm lets you import only the parts you need.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56766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1163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 (CDN)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867662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href="https://cdn.jsdelivr.net/npm/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bootstrap@5.3/dist/css/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bootstrap.min.css"&gt;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892040" y="2878582"/>
            <a:ext cx="3794760" cy="674116"/>
          </a:xfrm>
          <a:prstGeom prst="roundRect">
            <a:avLst>
              <a:gd name="adj" fmla="val 1085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file name"/>
          <p:cNvSpPr txBox="1"/>
          <p:nvPr/>
        </p:nvSpPr>
        <p:spPr>
          <a:xfrm>
            <a:off x="5029200" y="293344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 (npm)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5029200" y="3189478"/>
            <a:ext cx="3520440" cy="26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bootstrap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Bootstrap Grid System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is a 12-column layout, always nested in a .row inside a .container.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Classes like col-md-6 set how many of the 12 columns an element takes.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Columns stack full-width on small screens unless you add a breakpoint prefix.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74920" y="20574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container &gt; row &gt; 12 columns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74920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63718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52516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1314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30112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18910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07708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96506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85304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74102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62900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51698" y="2331720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74920" y="2926080"/>
            <a:ext cx="16962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074920" y="2926080"/>
            <a:ext cx="169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col-md-6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07708" y="2926080"/>
            <a:ext cx="1696212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07708" y="2926080"/>
            <a:ext cx="169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col-md-6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5387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two 6-wide columns on md screens and 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Containers in Bootstrap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80794"/>
            <a:ext cx="4206240" cy="288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layout starts in a container, which centers content and adds side padding.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.container has a fixed max-width per breakpoint; .container-fluid is always 100% wide.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80794"/>
            <a:ext cx="3794760" cy="1309370"/>
          </a:xfrm>
          <a:prstGeom prst="roundRect">
            <a:avLst>
              <a:gd name="adj" fmla="val 558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3565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91690"/>
            <a:ext cx="3520440" cy="897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class="container"&gt;…&lt;/div&gt;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fixed max-width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class="container-fluid"&gt;…&lt;/div&gt;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&lt;!-- 100% width --&gt;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Rows and Columns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columns of 6 units each sit side by side at equal width on medium screens and up.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Put one profile card in each column.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class="row"&gt;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class="col-md-6"&gt;Card A&lt;/div&gt;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class="col-md-6"&gt;Card B&lt;/div&gt;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74920" y="288874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container &gt; row &gt; 12 columns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74920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63718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52516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1314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30112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8910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07708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96506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5304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74102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62900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51698" y="3163062"/>
            <a:ext cx="252222" cy="4114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74920" y="3757422"/>
            <a:ext cx="16962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074920" y="3757422"/>
            <a:ext cx="169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col-md-6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07708" y="3757422"/>
            <a:ext cx="1696212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07708" y="3757422"/>
            <a:ext cx="169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col-md-6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37007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two 6-wide columns on md screens and up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Bootstrap Breakpoints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col-lg-4 applies from the lg breakpoint upward; below it the column is full-width.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Stack classes for full responsiveness: full width on phones, half on tablets, a third on desktops.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798068"/>
          </a:xfrm>
          <a:prstGeom prst="roundRect">
            <a:avLst>
              <a:gd name="adj" fmla="val 916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class="col-12 col-md-6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col-lg-4"&gt;…&lt;/div&gt;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169668"/>
            <a:ext cx="3794760" cy="2493772"/>
          </a:xfrm>
          <a:prstGeom prst="roundRect">
            <a:avLst>
              <a:gd name="adj" fmla="val 29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2364994"/>
            <a:ext cx="128016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166360" y="236499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sm ≥ 576px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2785618"/>
            <a:ext cx="173736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166360" y="278561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md ≥ 768px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3206242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66360" y="320624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lg ≥ 992px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3626866"/>
            <a:ext cx="2651760" cy="310896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166360" y="362686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xl ≥ 1200px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4047490"/>
            <a:ext cx="3108960" cy="310896"/>
          </a:xfrm>
          <a:prstGeom prst="roundRect">
            <a:avLst>
              <a:gd name="adj" fmla="val 17647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166360" y="404749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xxl ≥ 1400px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Bootstrap Navbar Component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navbar-expand-lg keeps the menu horizontal from the lg breakpoint up.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Below that it collapses into a hamburger toggle.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class="navbar navbar-expand-lg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navbar-dark bg-dark"&gt;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class="container-fluid"&gt;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class="navbar-brand" href="#"&gt;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Asha.dev&lt;/a&gt;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3499739"/>
            <a:ext cx="34290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212080" y="3499739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Asha.dev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499739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bg1"/>
                </a:solidFill>
              </a:rPr>
              <a:t>Home    About    Contact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4030091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logo left, links right, centered vertically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Bootstrap Buttons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base .btn class gives shape and padding.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modifier such as .btn-primary or .btn-outline-danger gives the color meaning.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btn-primary"&gt;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btn-success"&gt;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Hire&lt;/button&gt;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btn-outline-danger"&gt;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Cancel&lt;/button&gt;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352882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0D6EFD"/>
          </a:solidFill>
          <a:ln w="635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352882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Contact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352882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98754"/>
          </a:solidFill>
          <a:ln w="635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263640" y="352882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Hire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52360" y="3528822"/>
            <a:ext cx="10515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905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52360" y="352882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3545"/>
                </a:solidFill>
              </a:rPr>
              <a:t>Cancel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407746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pre-styled variants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Bootstrap Cards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card is Bootstrap's flexible content container.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 card-img-top, card-title and card-text to build product tiles, profiles or blog previews.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820672"/>
          </a:xfrm>
          <a:prstGeom prst="roundRect">
            <a:avLst>
              <a:gd name="adj" fmla="val 401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40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class="card-body text-center"&gt;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&lt;h5 class="card-title"&gt;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Asha Rao&lt;/h5&gt;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class="btn btn-primary"&gt;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Contact&lt;/a&gt;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192272"/>
            <a:ext cx="3794760" cy="1471168"/>
          </a:xfrm>
          <a:prstGeom prst="roundRect">
            <a:avLst>
              <a:gd name="adj" fmla="val 497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66460" y="3333496"/>
            <a:ext cx="16459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06540" y="3424936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06540" y="3424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66460" y="3808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66460" y="4010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23660" y="4229608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23660" y="42296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Bootstrap Forms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form-control gives an input a full-width, styled look with no custom CSS.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it for the "Contact Asha" form behind the card's button.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class="form-label"&gt;Email&lt;/label&gt;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class="form-control"&gt;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class="btn btn-primary mt-2"&gt;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66360" y="3248279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Email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3504311"/>
            <a:ext cx="3246120" cy="347472"/>
          </a:xfrm>
          <a:prstGeom prst="roundRect">
            <a:avLst>
              <a:gd name="adj" fmla="val 1315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257800" y="3504311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5"/>
                </a:solidFill>
              </a:rPr>
              <a:t>asha@example.com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3979799"/>
            <a:ext cx="91440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166360" y="3979799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Bootstrap Utility Classes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682648"/>
            <a:ext cx="4206240" cy="298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 single-purpose classes for spacing, alignment, color, borders and shadows.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mt-3 is margin-top, p-2 is padding, text-center, bg-light, rounded, shadow-sm each do one job.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Combine several to skip custom CSS entirely.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682648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7375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93544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class="mt-3 p-2 text-center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bg-light rounded shadow-sm"&gt;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Asha Rao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A Bootstrap Card Layout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row-cols-1 row-cols-md-3 means one card per row on mobile and three from md upward.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Fully responsive with zero custom media queries.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class="row row-cols-1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row-cols-md-3 g-4"&gt;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class="col"&gt;…card 1…&lt;/div&gt;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class="col"&gt;…card 2…&lt;/div&gt;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class="col"&gt;…card 3…&lt;/div&gt;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0" y="3163062"/>
            <a:ext cx="1115568" cy="1188720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04104" y="3254502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04104" y="325450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63855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83971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21224" y="4059174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221224" y="405917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1636" y="3163062"/>
            <a:ext cx="1115568" cy="1188720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06540" y="3254502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06540" y="325450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31636" y="363855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31636" y="383971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23660" y="4059174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23660" y="405917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34072" y="3163062"/>
            <a:ext cx="1115568" cy="1188720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08976" y="3254502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808976" y="325450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34072" y="363855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383971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26096" y="4059174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626096" y="405917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Build a responsive 3-card team section (Asha and two teammates) using only Bootstrap's grid, card component and utility classes.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No custom CSS file at all.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Tailwind CSS Basics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Utility-first styling, composed right in the markup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 to Tailwind CSS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92938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20071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20071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938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Tailwind is utility-first and ships no pre-built components.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5603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6380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6380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You compose designs in HTML with many small single-purpose classes.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19125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3832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91256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Sites are highly customizable, and the shipped CSS is small because unused utilities are stripped.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Utility-First CSS: The Concept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97304"/>
            <a:ext cx="4206240" cy="306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Instead of inventing a class name like .btn, style the element directly with utilities.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bg-blue-600 sets the background, px-4 and py-2 set padding, rounded sets border-radius.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class maps to one specific CSS declaration.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97304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521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908200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class="bg-blue-600 text-white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px-4 py-2 rounded"&gt;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Setting Up Tailwind CSS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556766"/>
            <a:ext cx="4206240" cy="310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Tailwind runs as a build step.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scans your HTML and JS for class names and generates only the matching CSS.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556766"/>
            <a:ext cx="3794760" cy="891032"/>
          </a:xfrm>
          <a:prstGeom prst="roundRect">
            <a:avLst>
              <a:gd name="adj" fmla="val 821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61163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867662"/>
            <a:ext cx="3520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tailwindcss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tailwindcss init -p</a:t>
            </a:r>
            <a:endParaRPr lang="en-US" sz="1400" dirty="0"/>
          </a:p>
        </p:txBody>
      </p:sp>
      <p:sp>
        <p:nvSpPr>
          <p:cNvPr id="7" name="Code panel"/>
          <p:cNvSpPr/>
          <p:nvPr/>
        </p:nvSpPr>
        <p:spPr>
          <a:xfrm>
            <a:off x="4892040" y="2630678"/>
            <a:ext cx="3794760" cy="1107948"/>
          </a:xfrm>
          <a:prstGeom prst="roundRect">
            <a:avLst>
              <a:gd name="adj" fmla="val 660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file name"/>
          <p:cNvSpPr txBox="1"/>
          <p:nvPr/>
        </p:nvSpPr>
        <p:spPr>
          <a:xfrm>
            <a:off x="5029200" y="268554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input.css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5029200" y="2941574"/>
            <a:ext cx="3520440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@tailwind base;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@tailwind components;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@tailwind utilities;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Spacing Utilities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860804"/>
            <a:ext cx="4206240" cy="280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spacing scale is the same for every utility.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Once you learn that 4 means 1rem, the same number works for padding, margin and gap.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860804"/>
            <a:ext cx="3794760" cy="1200912"/>
          </a:xfrm>
          <a:prstGeom prst="roundRect">
            <a:avLst>
              <a:gd name="adj" fmla="val 609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9156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reference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171700"/>
            <a:ext cx="3520440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p-4   → padding: 1rem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px-6  → padding-left/right: 1.5rem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mt-2  → margin-top: 0.5rem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gap-4 → gap: 1rem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Color &amp; Typography Utilities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860804"/>
            <a:ext cx="4206240" cy="280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color has a numbered scale from 50 (lightest) to 900 (darkest).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text-gray-700 and bg-indigo-500 are easy to reason about.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860804"/>
            <a:ext cx="3794760" cy="1200912"/>
          </a:xfrm>
          <a:prstGeom prst="roundRect">
            <a:avLst>
              <a:gd name="adj" fmla="val 609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9156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reference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171700"/>
            <a:ext cx="3520440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text-gray-700  → text color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bg-indigo-500  → background color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font-bold      → font-weight: 700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text-2xl       → font-size: 1.5rem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Responsive Design in Tailwind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Prefixes (sm:, md:, lg:, xl:) apply a class FROM that width upward.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is the same mobile-first idea as this module's media queries.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57200" y="315468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3246120"/>
            <a:ext cx="100584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3337560"/>
            <a:ext cx="859536" cy="237744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333756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3630168"/>
            <a:ext cx="859536" cy="237744"/>
          </a:xfrm>
          <a:prstGeom prst="roundRect">
            <a:avLst>
              <a:gd name="adj" fmla="val 2307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363016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3922776"/>
            <a:ext cx="859536" cy="237744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04672" y="392277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447288"/>
            <a:ext cx="2377440" cy="603504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84832" y="3538728"/>
            <a:ext cx="707136" cy="420624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084832" y="3538728"/>
            <a:ext cx="70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46832" y="3538728"/>
            <a:ext cx="707136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846832" y="3538728"/>
            <a:ext cx="70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08832" y="3538728"/>
            <a:ext cx="707136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608832" y="3538728"/>
            <a:ext cx="70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06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mobile: 1 column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306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tablet and up: 3 columns</a:t>
            </a:r>
            <a:endParaRPr lang="en-US" sz="1000" dirty="0"/>
          </a:p>
        </p:txBody>
      </p:sp>
      <p:sp>
        <p:nvSpPr>
          <p:cNvPr id="21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23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 grid-cols-1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md:grid-cols-3 gap-4"&gt;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Tailwind Buttons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hover: is a state prefix, just like the breakpoint prefixes.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applies bg-emerald-700 only while the mouse is over the button.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class="bg-emerald-600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hover:bg-emerald-700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text-white font-semibold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px-5 py-2 rounded-lg transition"&gt;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Started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4920" y="352882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352882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Get Started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52882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4785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0" y="352882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Hover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407746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pre-styled variants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Tailwind Forms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focus: utilities style the focused state of an input directly in the markup.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separate :focus rule in a CSS file is needed.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479804"/>
          </a:xfrm>
          <a:prstGeom prst="roundRect">
            <a:avLst>
              <a:gd name="adj" fmla="val 494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placeholder="Your name"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class="border border-gray-300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 px-3 py-2 w-full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focus:outline-none focus:ring-2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focus:ring-blue-400"&gt;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851404"/>
            <a:ext cx="3794760" cy="1812036"/>
          </a:xfrm>
          <a:prstGeom prst="roundRect">
            <a:avLst>
              <a:gd name="adj" fmla="val 40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66360" y="316306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Email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3419094"/>
            <a:ext cx="3246120" cy="347472"/>
          </a:xfrm>
          <a:prstGeom prst="roundRect">
            <a:avLst>
              <a:gd name="adj" fmla="val 1315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257800" y="341909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5"/>
                </a:solidFill>
              </a:rPr>
              <a:t>asha@example.com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3894582"/>
            <a:ext cx="91440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166360" y="389458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Tailwind Cards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result as the Bootstrap card, built from generic utilities instead of a .card component.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Our running example, in Tailwind.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650238"/>
          </a:xfrm>
          <a:prstGeom prst="roundRect">
            <a:avLst>
              <a:gd name="adj" fmla="val 44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12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class="max-w-sm rounded-lg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shadow-md p-6 bg-white"&gt;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 class="text-xl font-bold mb-2"&gt;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Asha Rao&lt;/h3&gt;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class="text-gray-600"&gt;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 Developer&lt;/p&gt;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3021838"/>
            <a:ext cx="3794760" cy="1641602"/>
          </a:xfrm>
          <a:prstGeom prst="roundRect">
            <a:avLst>
              <a:gd name="adj" fmla="val 44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66460" y="3248279"/>
            <a:ext cx="16459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06540" y="3339719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06540" y="33397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66460" y="3723767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66460" y="392493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23660" y="4144391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23660" y="4144391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Bootstrap vs Tailwind CSS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470355"/>
            <a:ext cx="4206240" cy="319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Bootstrap ships ready-made components; Tailwind ships only low-level utilities.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Bootstrap sites can look similar out of the box; Tailwind designs tend to look more custom.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Tailwind has a steeper start (more class names) but gives finer visual control.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Both are responsive and widely used in industry.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470355"/>
            <a:ext cx="3794760" cy="860044"/>
          </a:xfrm>
          <a:prstGeom prst="roundRect">
            <a:avLst>
              <a:gd name="adj" fmla="val 850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525219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Bootstrap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781251"/>
            <a:ext cx="3520440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btn-primary"&gt;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Contact&lt;/button&gt;</a:t>
            </a:r>
            <a:endParaRPr lang="en-US" sz="1300" dirty="0"/>
          </a:p>
        </p:txBody>
      </p:sp>
      <p:sp>
        <p:nvSpPr>
          <p:cNvPr id="7" name="Code panel"/>
          <p:cNvSpPr/>
          <p:nvPr/>
        </p:nvSpPr>
        <p:spPr>
          <a:xfrm>
            <a:off x="4892040" y="2513279"/>
            <a:ext cx="3794760" cy="1061466"/>
          </a:xfrm>
          <a:prstGeom prst="roundRect">
            <a:avLst>
              <a:gd name="adj" fmla="val 689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file name"/>
          <p:cNvSpPr txBox="1"/>
          <p:nvPr/>
        </p:nvSpPr>
        <p:spPr>
          <a:xfrm>
            <a:off x="5029200" y="2568143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Tailwind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5029200" y="2824175"/>
            <a:ext cx="3520440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class="bg-blue-600 px-4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py-2 rounded text-white"&gt;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Contact&lt;/button&gt;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Rebuild the Bootstrap team section using only Tailwind utility classes.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Compare the HTML readability and the final CSS file size of the two approaches.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Git &amp; GitHub Essentials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Tracking, branching and sharing your profile-card project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 to Version Control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204368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21214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4368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Version control tracks every change to a project's files over time, and who made it.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6746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7523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7462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Several people can work on the same codebase without overwriting each other.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30555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3832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0555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You can revert to an earlier, working version the moment something breaks.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Git?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92938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21214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9384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Git is a free, open-source, DISTRIBUTED version control system, created by Linus Torvalds.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7889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8666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8666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8892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Distributed means every developer has the full project history on their own machine.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41985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4975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97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1985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Git records changes as commits: labeled, timestamped snapshots of the project.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GitHub?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81508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20071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20071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15084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GitHub hosts Git repositories online, so your project is backed up and reachable anywhere.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6746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7523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7462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It adds collaboration features: pull requests, issues, code review and project boards.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330555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34975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97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05556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Git is the TOOL; GitHub is one popular PLACE to use it (GitLab and Bitbucket are alternatives).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Installing &amp; Configuring Git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860804"/>
            <a:ext cx="4206240" cy="280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the two config commands once per machine.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attaches this name and email to every commit you make.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860804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9156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171700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"Asha Rao"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"asha@example.com"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Basic Git Commands: init, add, commit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init starts tracking a folder as a repository.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add STAGES files, marking them ready to save.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commit records the staged changes as a snapshot with a message.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1262888"/>
          </a:xfrm>
          <a:prstGeom prst="roundRect">
            <a:avLst>
              <a:gd name="adj" fmla="val 579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85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index.html style.css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# stage 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profile card"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Checking Status and History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940814"/>
            <a:ext cx="4206240" cy="2722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status is the command you will run most often.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shows what has changed, what is staged and what is untracked.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940814"/>
            <a:ext cx="3794760" cy="1014984"/>
          </a:xfrm>
          <a:prstGeom prst="roundRect">
            <a:avLst>
              <a:gd name="adj" fmla="val 720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99567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25171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# changed / staged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         # full history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 # compact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Branching in Git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branch is an isolated line of development; changes there do not affect main until merged.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checkout -b creates a branch AND switches to it in one step.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1138936"/>
          </a:xfrm>
          <a:prstGeom prst="roundRect">
            <a:avLst>
              <a:gd name="adj" fmla="val 642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feature-navbar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feature-navbar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both in one step: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feature-navbar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510536"/>
            <a:ext cx="3794760" cy="2152904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0" y="3907028"/>
            <a:ext cx="3154680" cy="914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V="1">
            <a:off x="6095390" y="3038348"/>
            <a:ext cx="378562" cy="8686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73952" y="3038348"/>
            <a:ext cx="69403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9784" y="3824732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13094" y="3824732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85686" y="3824732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84464" y="3824732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91656" y="2956052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85686" y="2956052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166360" y="40167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main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7091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feature-navbar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2545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feature branch diverges from main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Merging Branches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Switch to the branch you want to merge INTO, then run merge with the branch you want to merge FROM.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conflict happens when both branches changed the same lines. Git pauses and asks you to resolve it.</a:t>
            </a:r>
            <a:endParaRPr lang="en-US" sz="1400" dirty="0"/>
          </a:p>
        </p:txBody>
      </p:sp>
      <p:sp>
        <p:nvSpPr>
          <p:cNvPr id="4" name="Code panel"/>
          <p:cNvSpPr/>
          <p:nvPr/>
        </p:nvSpPr>
        <p:spPr>
          <a:xfrm>
            <a:off x="4892040" y="1188720"/>
            <a:ext cx="3794760" cy="798068"/>
          </a:xfrm>
          <a:prstGeom prst="roundRect">
            <a:avLst>
              <a:gd name="adj" fmla="val 916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243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1499616"/>
            <a:ext cx="3520440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feature-navbar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4892040" y="2169668"/>
            <a:ext cx="3794760" cy="2493772"/>
          </a:xfrm>
          <a:prstGeom prst="roundRect">
            <a:avLst>
              <a:gd name="adj" fmla="val 29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0" y="3736594"/>
            <a:ext cx="3154680" cy="914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V="1">
            <a:off x="6095390" y="2867914"/>
            <a:ext cx="378562" cy="8686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73952" y="2867914"/>
            <a:ext cx="69403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67982" y="2867914"/>
            <a:ext cx="883310" cy="8686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9784" y="3654298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13094" y="3654298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85686" y="3654298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68996" y="3654298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91656" y="2785618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85686" y="2785618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68996" y="3654298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166360" y="384632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main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53873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feature-navbar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08406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merge commit brings the branch back into main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Remote Repositories: clone, push, pull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860804"/>
            <a:ext cx="4206240" cy="280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clone downloads a full copy of a remote repository, including history.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push uploads your new commits to GitHub; pull downloads and merges others' commits.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860804"/>
            <a:ext cx="3794760" cy="1324864"/>
          </a:xfrm>
          <a:prstGeom prst="roundRect">
            <a:avLst>
              <a:gd name="adj" fmla="val 55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9156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171700"/>
            <a:ext cx="3520440" cy="91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asha/profile-card.git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GitHub Workflow: Fork &amp; Pull Request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Fork: </a:t>
            </a:r>
            <a:r>
              <a:rPr lang="en-US" sz="1400" dirty="0">
                <a:solidFill>
                  <a:schemeClr val="tx1"/>
                </a:solidFill>
              </a:rPr>
              <a:t>Make your own copy of someone else's repository under your account.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Branch: </a:t>
            </a:r>
            <a:r>
              <a:rPr lang="en-US" sz="1400" dirty="0">
                <a:solidFill>
                  <a:schemeClr val="tx1"/>
                </a:solidFill>
              </a:rPr>
              <a:t>Create a feature branch for your change.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Pull Request: </a:t>
            </a:r>
            <a:r>
              <a:rPr lang="en-US" sz="1400" dirty="0">
                <a:solidFill>
                  <a:schemeClr val="tx1"/>
                </a:solidFill>
              </a:rPr>
              <a:t>Propose merging the branch back, opening it for review and discussion.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66360" y="1581912"/>
            <a:ext cx="324612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49240" y="1581912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1  Fork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copy the repo to your account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22951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2569464"/>
            <a:ext cx="3246120" cy="713232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49240" y="2569464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2  Branch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create feature-navbar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3282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66360" y="3557016"/>
            <a:ext cx="3246120" cy="713232"/>
          </a:xfrm>
          <a:prstGeom prst="roundRect">
            <a:avLst>
              <a:gd name="adj" fmla="val 7692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349240" y="3557016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3  Pull Request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propose merge, get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.gitignore File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767992"/>
            <a:ext cx="4206240" cy="289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text file telling Git which files and folders to NEVER track.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Committing node_modules/ or a .env file full of API keys is a common, risky beginner mistake.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.gitignore prevents it.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892040" y="1767992"/>
            <a:ext cx="3794760" cy="1541780"/>
          </a:xfrm>
          <a:prstGeom prst="roundRect">
            <a:avLst>
              <a:gd name="adj" fmla="val 4745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de file name"/>
          <p:cNvSpPr txBox="1"/>
          <p:nvPr/>
        </p:nvSpPr>
        <p:spPr>
          <a:xfrm>
            <a:off x="5029200" y="182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.gitignore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5029200" y="2078888"/>
            <a:ext cx="352044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Quick Challenge!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5" name="BUILD card"/>
          <p:cNvSpPr/>
          <p:nvPr/>
        </p:nvSpPr>
        <p:spPr>
          <a:xfrm>
            <a:off x="1005840" y="118872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1907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Create a GitHub repository, push your profile-card project, create a feature branch, make a small change and open your first pull request.</a:t>
            </a:r>
            <a:endParaRPr lang="en-US" sz="1800" dirty="0"/>
          </a:p>
        </p:txBody>
      </p:sp>
      <p:sp>
        <p:nvSpPr>
          <p:cNvPr id="9" name="THINK card"/>
          <p:cNvSpPr/>
          <p:nvPr/>
        </p:nvSpPr>
        <p:spPr>
          <a:xfrm>
            <a:off x="1005840" y="2926080"/>
            <a:ext cx="76809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82296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THINK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564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Write a commit message a teammate would understand.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73152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Engineering Application &amp; Summary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Bringing every topic together</a:t>
            </a:r>
            <a:endParaRPr lang="en-US" sz="1800" dirty="0"/>
          </a:p>
        </p:txBody>
      </p:sp>
      <p:sp>
        <p:nvSpPr>
          <p:cNvPr id="5" name="Decor circle"/>
          <p:cNvSpPr/>
          <p:nvPr/>
        </p:nvSpPr>
        <p:spPr>
          <a:xfrm>
            <a:off x="6858000" y="14630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Engineering Application: Responsive Page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a responsive page that combines core CSS, Flexbox and/or Grid, and one framework (Bootstrap or Tailwind).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must adapt cleanly to at least three widths: mobile, tablet, desktop.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by resizing your browser, not by guessing.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171700"/>
            <a:ext cx="173736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38928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90616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2304" y="2263140"/>
            <a:ext cx="505968" cy="914400"/>
          </a:xfrm>
          <a:prstGeom prst="roundRect">
            <a:avLst>
              <a:gd name="adj" fmla="val 1084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92040" y="34884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Desktop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6713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&gt; 992px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80860" y="2057400"/>
            <a:ext cx="1005840" cy="13258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4868" y="2148840"/>
            <a:ext cx="416052" cy="1143000"/>
          </a:xfrm>
          <a:prstGeom prst="roundRect">
            <a:avLst>
              <a:gd name="adj" fmla="val 1318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2148840"/>
            <a:ext cx="416052" cy="1143000"/>
          </a:xfrm>
          <a:prstGeom prst="roundRect">
            <a:avLst>
              <a:gd name="adj" fmla="val 1318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97980" y="34884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Tablet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97980" y="36713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577–992px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2171700"/>
            <a:ext cx="5486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9288" y="2263140"/>
            <a:ext cx="420624" cy="914400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0" y="34884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Mobile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6713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&lt; 576px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Building Reusable UI Components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a navbar, several profile cards and a working form.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styling consistent with CSS variables or your framework's utilities, not one-off values.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Push to GitHub with clear, incremental commits. Your history is assessed.</a:t>
            </a:r>
            <a:endParaRPr lang="en-US" sz="1400" dirty="0"/>
          </a:p>
        </p:txBody>
      </p:sp>
      <p:sp>
        <p:nvSpPr>
          <p:cNvPr id="4" name="Visual panel"/>
          <p:cNvSpPr/>
          <p:nvPr/>
        </p:nvSpPr>
        <p:spPr>
          <a:xfrm>
            <a:off x="4892040" y="1188720"/>
            <a:ext cx="37947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1828800"/>
            <a:ext cx="3429000" cy="41148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184648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Asha.dev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</a:rPr>
              <a:t>Home   Team   Contact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4920" y="2423160"/>
            <a:ext cx="1115568" cy="1188720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49824" y="251460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49824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289864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309981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66944" y="3319272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266944" y="3319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1636" y="2423160"/>
            <a:ext cx="1115568" cy="1188720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06540" y="251460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065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31636" y="289864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31636" y="309981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23660" y="3319272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23660" y="3319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88352" y="2423160"/>
            <a:ext cx="1115568" cy="1188720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63256" y="251460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63256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289864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309981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0376" y="3319272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580376" y="3319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7490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navbar + profile cards + contact form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Module 2: Key Takeaways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41274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 1"/>
          <p:cNvSpPr/>
          <p:nvPr/>
        </p:nvSpPr>
        <p:spPr>
          <a:xfrm>
            <a:off x="594360" y="149047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274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Selectors decide WHAT is styled; specificity and the cascade decide WHICH rule wins.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57200" y="2043684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 2"/>
          <p:cNvSpPr/>
          <p:nvPr/>
        </p:nvSpPr>
        <p:spPr>
          <a:xfrm>
            <a:off x="594360" y="212140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043684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Flexbox suits one-dimensional layouts; Grid suits two-dimensional page layouts.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26746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3"/>
          <p:cNvSpPr/>
          <p:nvPr/>
        </p:nvSpPr>
        <p:spPr>
          <a:xfrm>
            <a:off x="594360" y="27523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67462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Media queries and mobile-first thinking make a page truly responsive, not just narrow.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57200" y="330555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4"/>
          <p:cNvSpPr/>
          <p:nvPr/>
        </p:nvSpPr>
        <p:spPr>
          <a:xfrm>
            <a:off x="594360" y="33832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0555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Bootstrap gives ready-made components; Tailwind gives composable utilities.</a:t>
            </a:r>
            <a:endParaRPr lang="en-US" sz="1400" dirty="0"/>
          </a:p>
        </p:txBody>
      </p:sp>
      <p:sp>
        <p:nvSpPr>
          <p:cNvPr id="19" name="Card 5"/>
          <p:cNvSpPr/>
          <p:nvPr/>
        </p:nvSpPr>
        <p:spPr>
          <a:xfrm>
            <a:off x="457200" y="393649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adge 5"/>
          <p:cNvSpPr/>
          <p:nvPr/>
        </p:nvSpPr>
        <p:spPr>
          <a:xfrm>
            <a:off x="594360" y="401421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93649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Git and GitHub make safe, collaborative, version-controlled teamwork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3258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926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Style it. Lay it out. Make it responsive.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Then push it to GitHub.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20840" y="274320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283464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06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Asha Rao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3419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Web Developer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0" y="3639312"/>
            <a:ext cx="731520" cy="219456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223760" y="3639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Contact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 Card Module">
  <a:themeElements>
    <a:clrScheme name="Profile Card Module">
      <a:dk1>
        <a:srgbClr val="0F172A"/>
      </a:dk1>
      <a:lt1>
        <a:srgbClr val="FFFFFF"/>
      </a:lt1>
      <a:dk2>
        <a:srgbClr val="134E4A"/>
      </a:dk2>
      <a:lt2>
        <a:srgbClr val="E8F3F1"/>
      </a:lt2>
      <a:accent1>
        <a:srgbClr val="0B7A70"/>
      </a:accent1>
      <a:accent2>
        <a:srgbClr val="F59E0B"/>
      </a:accent2>
      <a:accent3>
        <a:srgbClr val="4F46E5"/>
      </a:accent3>
      <a:accent4>
        <a:srgbClr val="BE123C"/>
      </a:accent4>
      <a:accent5>
        <a:srgbClr val="64748B"/>
      </a:accent5>
      <a:accent6>
        <a:srgbClr val="047857"/>
      </a:accent6>
      <a:hlink>
        <a:srgbClr val="0B7A70"/>
      </a:hlink>
      <a:folHlink>
        <a:srgbClr val="64748B"/>
      </a:folHlink>
    </a:clrScheme>
    <a:fontScheme name="Profile Card Modu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8441</Words>
  <Application>Microsoft Office PowerPoint</Application>
  <PresentationFormat>On-screen Show (16:9)</PresentationFormat>
  <Paragraphs>1614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8" baseType="lpstr">
      <vt:lpstr>Arial</vt:lpstr>
      <vt:lpstr>Calibri</vt:lpstr>
      <vt:lpstr>Cambria</vt:lpstr>
      <vt:lpstr>Courier New</vt:lpstr>
      <vt:lpstr>Times New Roman</vt:lpstr>
      <vt:lpstr>Profile Card Module</vt:lpstr>
      <vt:lpstr>AI-POWERED FULL STACK DEVELOPMENT</vt:lpstr>
      <vt:lpstr>CSS3 Fundamentals</vt:lpstr>
      <vt:lpstr>Introduction to CSS3</vt:lpstr>
      <vt:lpstr>Our Running Example: The Profile Card</vt:lpstr>
      <vt:lpstr>Why Do We Need CSS?</vt:lpstr>
      <vt:lpstr>How CSS Works with HTML</vt:lpstr>
      <vt:lpstr>Levels of Style Sheets: Overview</vt:lpstr>
      <vt:lpstr>Inline CSS</vt:lpstr>
      <vt:lpstr>Internal CSS</vt:lpstr>
      <vt:lpstr>External CSS</vt:lpstr>
      <vt:lpstr>Inline vs Internal vs External: Which to Use</vt:lpstr>
      <vt:lpstr>Quick Challenge!</vt:lpstr>
      <vt:lpstr>CSS Syntax &amp; Selector Forms</vt:lpstr>
      <vt:lpstr>CSS Syntax: The Rule Format</vt:lpstr>
      <vt:lpstr>Selector Forms: Overview</vt:lpstr>
      <vt:lpstr>The Universal Selector ( * )</vt:lpstr>
      <vt:lpstr>Type / Element Selector</vt:lpstr>
      <vt:lpstr>Class Selector ( . )</vt:lpstr>
      <vt:lpstr>ID Selector ( # )</vt:lpstr>
      <vt:lpstr>Class vs ID: Key Differences</vt:lpstr>
      <vt:lpstr>Grouping Selector ( , )</vt:lpstr>
      <vt:lpstr>Descendant Selector ( space )</vt:lpstr>
      <vt:lpstr>Child Selector ( &gt; )</vt:lpstr>
      <vt:lpstr>Attribute Selector</vt:lpstr>
      <vt:lpstr>Pseudo-Class Selectors</vt:lpstr>
      <vt:lpstr>Pseudo-Element Selectors</vt:lpstr>
      <vt:lpstr>Quick Challenge!</vt:lpstr>
      <vt:lpstr>CSS Property Value Forms</vt:lpstr>
      <vt:lpstr>Property Value Forms: Overview</vt:lpstr>
      <vt:lpstr>Font Properties</vt:lpstr>
      <vt:lpstr>List Properties</vt:lpstr>
      <vt:lpstr>Color Properties: Named, Hex, RGB, HSL</vt:lpstr>
      <vt:lpstr>Text-Alignment Properties</vt:lpstr>
      <vt:lpstr>Background Properties</vt:lpstr>
      <vt:lpstr>Example: Styling the Profile Card</vt:lpstr>
      <vt:lpstr>Quick Challenge!</vt:lpstr>
      <vt:lpstr>CSS Box Model &amp; Conflict Resolution</vt:lpstr>
      <vt:lpstr>The CSS Box Model</vt:lpstr>
      <vt:lpstr>Content, Padding, Border, Margin</vt:lpstr>
      <vt:lpstr>The box-sizing Property</vt:lpstr>
      <vt:lpstr>Margin Collapsing</vt:lpstr>
      <vt:lpstr>Conflict Resolution: Specificity</vt:lpstr>
      <vt:lpstr>Calculating Specificity</vt:lpstr>
      <vt:lpstr>Conflict Resolution: Inheritance</vt:lpstr>
      <vt:lpstr>Conflict Resolution: The Cascade</vt:lpstr>
      <vt:lpstr>The !important Rule</vt:lpstr>
      <vt:lpstr>Quick Challenge!</vt:lpstr>
      <vt:lpstr>Flexbox Layout</vt:lpstr>
      <vt:lpstr>Introduction to Flexbox</vt:lpstr>
      <vt:lpstr>Flex Container vs Flex Items</vt:lpstr>
      <vt:lpstr>Enabling Flexbox: display: flex</vt:lpstr>
      <vt:lpstr>The flex-direction Property</vt:lpstr>
      <vt:lpstr>The justify-content Property</vt:lpstr>
      <vt:lpstr>The align-items Property</vt:lpstr>
      <vt:lpstr>The flex-wrap Property</vt:lpstr>
      <vt:lpstr>flex-grow, flex-shrink, flex-basis</vt:lpstr>
      <vt:lpstr>The gap Property</vt:lpstr>
      <vt:lpstr>Example: A Navbar with Flexbox</vt:lpstr>
      <vt:lpstr>Quick Challenge!</vt:lpstr>
      <vt:lpstr>CSS Grid Layout</vt:lpstr>
      <vt:lpstr>Introduction to CSS Grid</vt:lpstr>
      <vt:lpstr>grid-template-columns &amp; grid-template-rows</vt:lpstr>
      <vt:lpstr>The gap Property in Grid</vt:lpstr>
      <vt:lpstr>grid-column &amp; grid-row: Spanning Cells</vt:lpstr>
      <vt:lpstr>grid-template-areas</vt:lpstr>
      <vt:lpstr>Example: A Page Layout with Grid</vt:lpstr>
      <vt:lpstr>Flexbox vs Grid: When to Use Which</vt:lpstr>
      <vt:lpstr>Quick Challenge!</vt:lpstr>
      <vt:lpstr>CSS3 Visual Features</vt:lpstr>
      <vt:lpstr>The box-shadow Property</vt:lpstr>
      <vt:lpstr>The opacity Property</vt:lpstr>
      <vt:lpstr>Rounded Corners: border-radius</vt:lpstr>
      <vt:lpstr>CSS Transitions</vt:lpstr>
      <vt:lpstr>CSS Animations: @keyframes</vt:lpstr>
      <vt:lpstr>Example: A Button Hover Transition</vt:lpstr>
      <vt:lpstr>Example: A Loading Spinner</vt:lpstr>
      <vt:lpstr>Quick Challenge!</vt:lpstr>
      <vt:lpstr>CSS Variables &amp; Responsive Design</vt:lpstr>
      <vt:lpstr>CSS Variables (Custom Properties)</vt:lpstr>
      <vt:lpstr>Declaring &amp; Using Variables: :root and var()</vt:lpstr>
      <vt:lpstr>Example: A Theme with CSS Variables</vt:lpstr>
      <vt:lpstr>Media Queries: Recap</vt:lpstr>
      <vt:lpstr>Media Query Syntax</vt:lpstr>
      <vt:lpstr>Common Breakpoints</vt:lpstr>
      <vt:lpstr>Mobile-First Design</vt:lpstr>
      <vt:lpstr>Example: A Responsive Media Query</vt:lpstr>
      <vt:lpstr>Quick Challenge!</vt:lpstr>
      <vt:lpstr>Bootstrap Basics</vt:lpstr>
      <vt:lpstr>Introduction to Bootstrap</vt:lpstr>
      <vt:lpstr>Why Use a CSS Framework?</vt:lpstr>
      <vt:lpstr>Setting Up Bootstrap: CDN vs npm</vt:lpstr>
      <vt:lpstr>The Bootstrap Grid System</vt:lpstr>
      <vt:lpstr>Containers in Bootstrap</vt:lpstr>
      <vt:lpstr>Rows and Columns</vt:lpstr>
      <vt:lpstr>Bootstrap Breakpoints</vt:lpstr>
      <vt:lpstr>Bootstrap Navbar Component</vt:lpstr>
      <vt:lpstr>Bootstrap Buttons</vt:lpstr>
      <vt:lpstr>Bootstrap Cards</vt:lpstr>
      <vt:lpstr>Bootstrap Forms</vt:lpstr>
      <vt:lpstr>Bootstrap Utility Classes</vt:lpstr>
      <vt:lpstr>Example: A Bootstrap Card Layout</vt:lpstr>
      <vt:lpstr>Quick Challenge!</vt:lpstr>
      <vt:lpstr>Tailwind CSS Basics</vt:lpstr>
      <vt:lpstr>Introduction to Tailwind CSS</vt:lpstr>
      <vt:lpstr>Utility-First CSS: The Concept</vt:lpstr>
      <vt:lpstr>Setting Up Tailwind CSS</vt:lpstr>
      <vt:lpstr>Spacing Utilities</vt:lpstr>
      <vt:lpstr>Color &amp; Typography Utilities</vt:lpstr>
      <vt:lpstr>Responsive Design in Tailwind</vt:lpstr>
      <vt:lpstr>Tailwind Buttons</vt:lpstr>
      <vt:lpstr>Tailwind Forms</vt:lpstr>
      <vt:lpstr>Tailwind Cards</vt:lpstr>
      <vt:lpstr>Bootstrap vs Tailwind CSS</vt:lpstr>
      <vt:lpstr>Quick Challenge!</vt:lpstr>
      <vt:lpstr>Git &amp; GitHub Essentials</vt:lpstr>
      <vt:lpstr>Introduction to Version Control</vt:lpstr>
      <vt:lpstr>What Is Git?</vt:lpstr>
      <vt:lpstr>What Is GitHub?</vt:lpstr>
      <vt:lpstr>Installing &amp; Configuring Git</vt:lpstr>
      <vt:lpstr>Basic Git Commands: init, add, commit</vt:lpstr>
      <vt:lpstr>Checking Status and History</vt:lpstr>
      <vt:lpstr>Branching in Git</vt:lpstr>
      <vt:lpstr>Merging Branches</vt:lpstr>
      <vt:lpstr>Remote Repositories: clone, push, pull</vt:lpstr>
      <vt:lpstr>The GitHub Workflow: Fork &amp; Pull Request</vt:lpstr>
      <vt:lpstr>The .gitignore File</vt:lpstr>
      <vt:lpstr>Quick Challenge!</vt:lpstr>
      <vt:lpstr>Engineering Application &amp; Summary</vt:lpstr>
      <vt:lpstr>Engineering Application: Responsive Page</vt:lpstr>
      <vt:lpstr>Building Reusable UI Components</vt:lpstr>
      <vt:lpstr>Module 2: Key Takeaways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Full Stack Development: Module 2 (Profile Card edition)</dc:title>
  <dc:subject>PptxGenJS Presentation</dc:subject>
  <dc:creator>PptxGenJS</dc:creator>
  <cp:lastModifiedBy>Deepanshu Bhargav</cp:lastModifiedBy>
  <cp:revision>1</cp:revision>
  <dcterms:created xsi:type="dcterms:W3CDTF">2026-10-07T05:45:01Z</dcterms:created>
  <dcterms:modified xsi:type="dcterms:W3CDTF">2026-10-07T09:56:44Z</dcterms:modified>
</cp:coreProperties>
</file>