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4"/>
  </p:notesMasterIdLst>
  <p:sldIdLst>
    <p:sldId id="256" r:id="rId2"/>
    <p:sldId id="257" r:id="rId3"/>
    <p:sldId id="258" r:id="rId4"/>
    <p:sldId id="259" r:id="rId5"/>
    <p:sldId id="38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</p:sldIdLst>
  <p:sldSz cx="12192000" cy="6858000"/>
  <p:notesSz cx="6858000" cy="9144000"/>
  <p:embeddedFontLst>
    <p:embeddedFont>
      <p:font typeface="Cambria" panose="02040503050406030204" pitchFamily="18" charset="0"/>
      <p:regular r:id="rId135"/>
      <p:bold r:id="rId136"/>
      <p:italic r:id="rId137"/>
      <p:boldItalic r:id="rId138"/>
    </p:embeddedFont>
    <p:embeddedFont>
      <p:font typeface="Consolas" panose="020B0609020204030204" pitchFamily="49" charset="0"/>
      <p:regular r:id="rId139"/>
      <p:bold r:id="rId140"/>
      <p:italic r:id="rId141"/>
      <p:boldItalic r:id="rId142"/>
    </p:embeddedFont>
    <p:embeddedFont>
      <p:font typeface="Gill Sans" panose="020B0604020202020204" charset="0"/>
      <p:regular r:id="rId143"/>
      <p:bold r:id="rId1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456D8F9-3C8F-489C-AB95-7BEB311A1D2B}" styleName="Table_0">
    <a:wholeTbl>
      <a:tcTxStyle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E7E8"/>
          </a:solidFill>
        </a:fill>
      </a:tcStyle>
    </a:wholeTbl>
    <a:band1H>
      <a:tcStyle>
        <a:tcBdr/>
        <a:fill>
          <a:solidFill>
            <a:srgbClr val="E5CBC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5CBCD"/>
          </a:solidFill>
        </a:fill>
      </a:tcStyle>
    </a:band1V>
    <a:band2V>
      <a:tcStyle>
        <a:tcBdr/>
      </a:tcStyle>
    </a:band2V>
    <a:lastCol>
      <a:tcTxStyle b="on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 snapToGrid="0">
      <p:cViewPr varScale="1">
        <p:scale>
          <a:sx n="84" d="100"/>
          <a:sy n="84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font" Target="fonts/font4.fntdata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notesMaster" Target="notesMasters/notesMaster1.xml"/><Relationship Id="rId139" Type="http://schemas.openxmlformats.org/officeDocument/2006/relationships/font" Target="fonts/font5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font" Target="fonts/font6.fntdata"/><Relationship Id="rId14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font" Target="fonts/font1.fntdata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font" Target="fonts/font7.fntdata"/><Relationship Id="rId14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font" Target="fonts/font9.fntdata"/><Relationship Id="rId14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F172A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40"/>
          <p:cNvSpPr txBox="1"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mbria" panose="020B0604020202020204"/>
              <a:buNone/>
              <a:defRPr sz="4400" b="1" i="0" u="none" strike="noStrike" cap="none">
                <a:solidFill>
                  <a:srgbClr val="FFFFFF"/>
                </a:solidFill>
                <a:latin typeface="Cambria" panose="020B0604020202020204"/>
                <a:ea typeface="Cambria" panose="020B0604020202020204"/>
                <a:cs typeface="Cambria" panose="020B0604020202020204"/>
                <a:sym typeface="Cambria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16" name="Google Shape;16;p140"/>
          <p:cNvSpPr txBox="1"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 b="0" cap="none">
                <a:solidFill>
                  <a:srgbClr val="CADCFC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140"/>
          <p:cNvSpPr txBox="1">
            <a:spLocks noGrp="1"/>
          </p:cNvSpPr>
          <p:nvPr>
            <p:ph type="ftr" idx="11"/>
          </p:nvPr>
        </p:nvSpPr>
        <p:spPr>
          <a:xfrm>
            <a:off x="2417779" y="5466791"/>
            <a:ext cx="49739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0"/>
          <p:cNvSpPr txBox="1">
            <a:spLocks noGrp="1"/>
          </p:cNvSpPr>
          <p:nvPr>
            <p:ph type="sldNum" idx="12"/>
          </p:nvPr>
        </p:nvSpPr>
        <p:spPr>
          <a:xfrm>
            <a:off x="10954643" y="5447617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19" name="Google Shape;19;p140"/>
          <p:cNvCxnSpPr/>
          <p:nvPr/>
        </p:nvCxnSpPr>
        <p:spPr>
          <a:xfrm>
            <a:off x="2417780" y="3528542"/>
            <a:ext cx="863707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1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22" name="Google Shape;22;p141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" name="Google Shape;23;p141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24" name="Google Shape;24;p141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1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26" name="Google Shape;26;p141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5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29" name="Google Shape;29;p145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30" name="Google Shape;30;p145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5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32" name="Google Shape;32;p145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2"/>
          <p:cNvSpPr txBox="1"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 panose="020B0502020104020203"/>
              <a:buNone/>
              <a:defRPr sz="36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35" name="Google Shape;35;p142"/>
          <p:cNvSpPr txBox="1"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42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37" name="Google Shape;37;p142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2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39" name="Google Shape;39;p142"/>
          <p:cNvCxnSpPr/>
          <p:nvPr/>
        </p:nvCxnSpPr>
        <p:spPr>
          <a:xfrm>
            <a:off x="1454239" y="3804985"/>
            <a:ext cx="8630446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3"/>
          <p:cNvSpPr txBox="1"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42" name="Google Shape;42;p143"/>
          <p:cNvSpPr txBox="1">
            <a:spLocks noGrp="1"/>
          </p:cNvSpPr>
          <p:nvPr>
            <p:ph type="body" idx="1"/>
          </p:nvPr>
        </p:nvSpPr>
        <p:spPr>
          <a:xfrm>
            <a:off x="1447331" y="2010878"/>
            <a:ext cx="4645152" cy="3448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43"/>
          <p:cNvSpPr txBox="1">
            <a:spLocks noGrp="1"/>
          </p:cNvSpPr>
          <p:nvPr>
            <p:ph type="body" idx="2"/>
          </p:nvPr>
        </p:nvSpPr>
        <p:spPr>
          <a:xfrm>
            <a:off x="6413771" y="2017343"/>
            <a:ext cx="4645152" cy="344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43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45" name="Google Shape;45;p143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3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47" name="Google Shape;47;p143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4"/>
          <p:cNvSpPr txBox="1"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50" name="Google Shape;50;p144"/>
          <p:cNvSpPr txBox="1"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44"/>
          <p:cNvSpPr txBox="1">
            <a:spLocks noGrp="1"/>
          </p:cNvSpPr>
          <p:nvPr>
            <p:ph type="body" idx="2"/>
          </p:nvPr>
        </p:nvSpPr>
        <p:spPr>
          <a:xfrm>
            <a:off x="1447191" y="2824269"/>
            <a:ext cx="4645152" cy="2644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44"/>
          <p:cNvSpPr txBox="1">
            <a:spLocks noGrp="1"/>
          </p:cNvSpPr>
          <p:nvPr>
            <p:ph type="body" idx="3"/>
          </p:nvPr>
        </p:nvSpPr>
        <p:spPr>
          <a:xfrm>
            <a:off x="6412362" y="2023003"/>
            <a:ext cx="4645152" cy="802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 b="0" cap="none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144"/>
          <p:cNvSpPr txBox="1">
            <a:spLocks noGrp="1"/>
          </p:cNvSpPr>
          <p:nvPr>
            <p:ph type="body" idx="4"/>
          </p:nvPr>
        </p:nvSpPr>
        <p:spPr>
          <a:xfrm>
            <a:off x="6412362" y="2821491"/>
            <a:ext cx="4645152" cy="2637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144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55" name="Google Shape;55;p144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4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57" name="Google Shape;57;p144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6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60" name="Google Shape;60;p146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6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7"/>
          <p:cNvSpPr txBox="1"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B0502020104020203"/>
              <a:buNone/>
              <a:defRPr sz="2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64" name="Google Shape;64;p147"/>
          <p:cNvSpPr txBox="1">
            <a:spLocks noGrp="1"/>
          </p:cNvSpPr>
          <p:nvPr>
            <p:ph type="body" idx="1"/>
          </p:nvPr>
        </p:nvSpPr>
        <p:spPr>
          <a:xfrm>
            <a:off x="5043714" y="798974"/>
            <a:ext cx="6012470" cy="4658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47"/>
          <p:cNvSpPr txBox="1">
            <a:spLocks noGrp="1"/>
          </p:cNvSpPr>
          <p:nvPr>
            <p:ph type="body" idx="2"/>
          </p:nvPr>
        </p:nvSpPr>
        <p:spPr>
          <a:xfrm>
            <a:off x="1444671" y="3205491"/>
            <a:ext cx="3275013" cy="2248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47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67" name="Google Shape;67;p147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7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69" name="Google Shape;69;p147"/>
          <p:cNvCxnSpPr/>
          <p:nvPr/>
        </p:nvCxnSpPr>
        <p:spPr>
          <a:xfrm>
            <a:off x="1448280" y="3205491"/>
            <a:ext cx="3269490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4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72" name="Google Shape;72;p148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  <a:lin ang="5400000" scaled="0"/>
            </a:gradFill>
            <a:ln>
              <a:noFill/>
            </a:ln>
            <a:effectLst>
              <a:outerShdw blurRad="127000" dist="228600" dir="4740000" sx="98000" sy="98000" algn="tl" rotWithShape="0">
                <a:srgbClr val="000000">
                  <a:alpha val="32549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endParaRPr>
            </a:p>
          </p:txBody>
        </p:sp>
        <p:sp>
          <p:nvSpPr>
            <p:cNvPr id="73" name="Google Shape;73;p14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ap="flat" cmpd="sng">
              <a:solidFill>
                <a:srgbClr val="191919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 panose="020B0604020202020204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endParaRPr>
            </a:p>
          </p:txBody>
        </p:sp>
      </p:grpSp>
      <p:sp>
        <p:nvSpPr>
          <p:cNvPr id="74" name="Google Shape;74;p148"/>
          <p:cNvSpPr txBox="1"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B0502020104020203"/>
              <a:buNone/>
              <a:defRPr sz="32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75" name="Google Shape;75;p148"/>
          <p:cNvSpPr>
            <a:spLocks noGrp="1"/>
          </p:cNvSpPr>
          <p:nvPr>
            <p:ph type="pic" idx="2"/>
          </p:nvPr>
        </p:nvSpPr>
        <p:spPr>
          <a:xfrm>
            <a:off x="8124389" y="1122542"/>
            <a:ext cx="2791171" cy="386632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" name="Google Shape;76;p148"/>
          <p:cNvSpPr txBox="1">
            <a:spLocks noGrp="1"/>
          </p:cNvSpPr>
          <p:nvPr>
            <p:ph type="body" idx="1"/>
          </p:nvPr>
        </p:nvSpPr>
        <p:spPr>
          <a:xfrm>
            <a:off x="1450329" y="3145992"/>
            <a:ext cx="5524404" cy="2003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marL="320040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marL="365760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marL="411480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48"/>
          <p:cNvSpPr txBox="1">
            <a:spLocks noGrp="1"/>
          </p:cNvSpPr>
          <p:nvPr>
            <p:ph type="dt" idx="10"/>
          </p:nvPr>
        </p:nvSpPr>
        <p:spPr>
          <a:xfrm>
            <a:off x="1447382" y="5469856"/>
            <a:ext cx="5527351" cy="320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78" name="Google Shape;78;p148"/>
          <p:cNvSpPr txBox="1">
            <a:spLocks noGrp="1"/>
          </p:cNvSpPr>
          <p:nvPr>
            <p:ph type="ftr" idx="11"/>
          </p:nvPr>
        </p:nvSpPr>
        <p:spPr>
          <a:xfrm>
            <a:off x="1447382" y="318640"/>
            <a:ext cx="5541004" cy="32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48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80" name="Google Shape;80;p148"/>
          <p:cNvCxnSpPr/>
          <p:nvPr/>
        </p:nvCxnSpPr>
        <p:spPr>
          <a:xfrm>
            <a:off x="1447382" y="3143605"/>
            <a:ext cx="5527351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9"/>
          <p:cNvSpPr txBox="1"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83" name="Google Shape;83;p149"/>
          <p:cNvSpPr txBox="1">
            <a:spLocks noGrp="1"/>
          </p:cNvSpPr>
          <p:nvPr>
            <p:ph type="body" idx="1"/>
          </p:nvPr>
        </p:nvSpPr>
        <p:spPr>
          <a:xfrm rot="5400000">
            <a:off x="4527910" y="-1060599"/>
            <a:ext cx="3450613" cy="9603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9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85" name="Google Shape;85;p149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49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87" name="Google Shape;87;p149"/>
          <p:cNvCxnSpPr/>
          <p:nvPr/>
        </p:nvCxnSpPr>
        <p:spPr>
          <a:xfrm>
            <a:off x="1453896" y="1847088"/>
            <a:ext cx="9607522" cy="0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0"/>
          <p:cNvSpPr txBox="1">
            <a:spLocks noGrp="1"/>
          </p:cNvSpPr>
          <p:nvPr>
            <p:ph type="title"/>
          </p:nvPr>
        </p:nvSpPr>
        <p:spPr>
          <a:xfrm rot="5400000">
            <a:off x="7917038" y="2321047"/>
            <a:ext cx="4659889" cy="16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B0502020104020203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90" name="Google Shape;90;p150"/>
          <p:cNvSpPr txBox="1">
            <a:spLocks noGrp="1"/>
          </p:cNvSpPr>
          <p:nvPr>
            <p:ph type="body" idx="1"/>
          </p:nvPr>
        </p:nvSpPr>
        <p:spPr>
          <a:xfrm rot="5400000">
            <a:off x="3029143" y="-785498"/>
            <a:ext cx="4659889" cy="7828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0"/>
          <p:cNvSpPr txBox="1">
            <a:spLocks noGrp="1"/>
          </p:cNvSpPr>
          <p:nvPr>
            <p:ph type="dt" idx="10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Calibri" panose="020B0604020202020204"/>
                <a:ea typeface="Calibri" panose="020B0604020202020204"/>
                <a:cs typeface="Calibri" panose="020B0604020202020204"/>
                <a:sym typeface="Calibri" panose="020B0604020202020204"/>
              </a:defRPr>
            </a:lvl9pPr>
          </a:lstStyle>
          <a:p>
            <a:endParaRPr/>
          </a:p>
        </p:txBody>
      </p:sp>
      <p:sp>
        <p:nvSpPr>
          <p:cNvPr id="92" name="Google Shape;92;p150"/>
          <p:cNvSpPr txBox="1">
            <a:spLocks noGrp="1"/>
          </p:cNvSpPr>
          <p:nvPr>
            <p:ph type="ftr" idx="11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0"/>
          <p:cNvSpPr txBox="1">
            <a:spLocks noGrp="1"/>
          </p:cNvSpPr>
          <p:nvPr>
            <p:ph type="sldNum" idx="12"/>
          </p:nvPr>
        </p:nvSpPr>
        <p:spPr>
          <a:xfrm>
            <a:off x="480060" y="798973"/>
            <a:ext cx="811019" cy="503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Calibri" panose="020B0502020104020203"/>
                <a:ea typeface="Calibri" panose="020B0502020104020203"/>
                <a:cs typeface="Calibri" panose="020B0502020104020203"/>
                <a:sym typeface="Calibri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94" name="Google Shape;94;p150"/>
          <p:cNvCxnSpPr/>
          <p:nvPr/>
        </p:nvCxnSpPr>
        <p:spPr>
          <a:xfrm>
            <a:off x="9439111" y="798973"/>
            <a:ext cx="0" cy="4659889"/>
          </a:xfrm>
          <a:prstGeom prst="straightConnector1">
            <a:avLst/>
          </a:prstGeom>
          <a:noFill/>
          <a:ln w="317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9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>
            <a:gsLst>
              <a:gs pos="0">
                <a:srgbClr val="DFDBD5">
                  <a:alpha val="0"/>
                </a:srgbClr>
              </a:gs>
              <a:gs pos="100000">
                <a:schemeClr val="lt2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Google Shape;8;p139"/>
          <p:cNvSpPr txBox="1"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1371600" marR="0" lvl="2" indent="-3302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1828800" marR="0" lvl="3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2743200" marR="0" lvl="5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3200400" marR="0" lvl="6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3657600" marR="0" lvl="7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4114800" marR="0" lvl="8" indent="-3048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9" name="Google Shape;9;p139"/>
          <p:cNvSpPr txBox="1">
            <a:spLocks noGrp="1"/>
          </p:cNvSpPr>
          <p:nvPr>
            <p:ph type="ftr" idx="11"/>
          </p:nvPr>
        </p:nvSpPr>
        <p:spPr>
          <a:xfrm>
            <a:off x="1451579" y="5682252"/>
            <a:ext cx="5938836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000" b="0" i="0" u="none" strike="noStrike" cap="none">
                <a:solidFill>
                  <a:srgbClr val="888888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endParaRPr/>
          </a:p>
        </p:txBody>
      </p:sp>
      <p:sp>
        <p:nvSpPr>
          <p:cNvPr id="10" name="Google Shape;10;p139"/>
          <p:cNvSpPr txBox="1">
            <a:spLocks noGrp="1"/>
          </p:cNvSpPr>
          <p:nvPr>
            <p:ph type="sldNum" idx="12"/>
          </p:nvPr>
        </p:nvSpPr>
        <p:spPr>
          <a:xfrm>
            <a:off x="10649344" y="5486679"/>
            <a:ext cx="811019" cy="30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accent1"/>
                </a:solidFill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  <p:cxnSp>
        <p:nvCxnSpPr>
          <p:cNvPr id="11" name="Google Shape;11;p139"/>
          <p:cNvCxnSpPr/>
          <p:nvPr/>
        </p:nvCxnSpPr>
        <p:spPr>
          <a:xfrm>
            <a:off x="0" y="6128413"/>
            <a:ext cx="12192000" cy="0"/>
          </a:xfrm>
          <a:prstGeom prst="straightConnector1">
            <a:avLst/>
          </a:prstGeom>
          <a:noFill/>
          <a:ln w="12700" cap="flat" cmpd="sng">
            <a:solidFill>
              <a:srgbClr val="000001">
                <a:alpha val="20000"/>
              </a:srgbClr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39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0" y="0"/>
            <a:ext cx="1539240" cy="738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139"/>
          <p:cNvPicPr preferRelativeResize="0"/>
          <p:nvPr/>
        </p:nvPicPr>
        <p:blipFill rotWithShape="1">
          <a:blip r:embed="rId14"/>
          <a:srcRect/>
          <a:stretch>
            <a:fillRect/>
          </a:stretch>
        </p:blipFill>
        <p:spPr>
          <a:xfrm>
            <a:off x="10206355" y="1"/>
            <a:ext cx="1985645" cy="61482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3200" b="1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2233F"/>
        </a:buClr>
        <a:buFont typeface="Cambria" panose="020B0604020202020204"/>
        <a:defRPr sz="1400" b="0" i="0" u="none" strike="noStrike" cap="none">
          <a:solidFill>
            <a:srgbClr val="12233F"/>
          </a:solidFill>
          <a:latin typeface="Cambria" panose="020B0604020202020204"/>
          <a:ea typeface="Cambria" panose="020B0604020202020204"/>
          <a:cs typeface="Cambria" panose="020B0604020202020204"/>
          <a:sym typeface="Cambria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1F2937"/>
        </a:buClr>
        <a:buFont typeface="Calibri" panose="020B0604020202020204"/>
        <a:defRPr sz="1400" b="0" i="0" u="none" strike="noStrike" cap="none">
          <a:solidFill>
            <a:srgbClr val="1F2937"/>
          </a:solidFill>
          <a:latin typeface="Calibri" panose="020B0604020202020204"/>
          <a:ea typeface="Calibri" panose="020B0604020202020204"/>
          <a:cs typeface="Calibri" panose="020B0604020202020204"/>
          <a:sym typeface="Calibri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sz="4400" b="1">
                <a:latin typeface="Calibri"/>
              </a:rPr>
              <a:t>AI-POWERED FULL STACK  DEVELOPMENT</a:t>
            </a:r>
          </a:p>
          <a:p>
            <a:pPr algn="l"/>
            <a:endParaRPr sz="4400" b="1">
              <a:latin typeface="Calibri"/>
            </a:endParaRPr>
          </a:p>
          <a:p>
            <a:pPr algn="l"/>
            <a:r>
              <a:rPr sz="2300" b="1">
                <a:latin typeface="Calibri"/>
              </a:rPr>
              <a:t>Year: 2026-27</a:t>
            </a:r>
          </a:p>
          <a:p>
            <a:pPr algn="l"/>
            <a:r>
              <a:rPr sz="2300" b="1">
                <a:latin typeface="Calibri"/>
              </a:rPr>
              <a:t>Semester: 3</a:t>
            </a:r>
          </a:p>
          <a:p>
            <a:pPr algn="l"/>
            <a:endParaRPr sz="2300" b="1">
              <a:latin typeface="Calibri"/>
            </a:endParaRPr>
          </a:p>
          <a:p>
            <a:pPr algn="ctr"/>
            <a:r>
              <a:rPr sz="2500" b="1">
                <a:latin typeface="Calibri"/>
              </a:rPr>
              <a:t>Module 2</a:t>
            </a:r>
          </a:p>
          <a:p>
            <a:pPr algn="ctr"/>
            <a:r>
              <a:rPr sz="2200" b="1">
                <a:latin typeface="Calibri"/>
              </a:rPr>
              <a:t>CSS3, Bootstrap &amp; Tailwind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CSS3 FUNDAMENTALS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latin typeface="Times New Roman"/>
              </a:rPr>
              <a:t>INTRODUCTION TO CSS3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 (Cascading Style Sheets) describes how HTML elements should be displayed.</a:t>
            </a:r>
          </a:p>
          <a:p>
            <a:r>
              <a:t>It controls layout, colors, fonts, spacing, and the overall visual style of a page.</a:t>
            </a:r>
          </a:p>
          <a:p>
            <a:r>
              <a:t>CSS3 is the latest evolution of CSS, adding animations, gradients, flexbox, grid, and more.</a:t>
            </a:r>
          </a:p>
          <a:p>
            <a:r>
              <a:t>📍 “If HTML is the skeleton of a webpage, CSS is its skin and clothing.”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WHY DO WE NEED CSS?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Without CSS, every webpage would look like plain black text on a white background.</a:t>
            </a:r>
          </a:p>
          <a:p>
            <a:r>
              <a:t>CSS separates content (HTML) from presentation (style) — a core web design principle.</a:t>
            </a:r>
          </a:p>
          <a:p>
            <a:r>
              <a:t>One CSS file can style hundreds of HTML pages consistently.</a:t>
            </a:r>
          </a:p>
          <a:p>
            <a:r>
              <a:t>Makes websites responsive, visually appealing, and easier to maintain.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75D72-144C-580B-A659-2BF5A7FFF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1F9F5-9FD5-1836-97C6-0CC1212BF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2363"/>
            <a:ext cx="1219200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67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b="1">
                <a:latin typeface="Times New Roman"/>
              </a:rPr>
              <a:t>HOW CSS WORKS WITH HTML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8" y="2015732"/>
            <a:ext cx="6366039" cy="3450613"/>
          </a:xfrm>
        </p:spPr>
        <p:txBody>
          <a:bodyPr/>
          <a:lstStyle/>
          <a:p>
            <a:r>
              <a:rPr lang="en-US" dirty="0"/>
              <a:t>The browser reads the HTML to build page structure (the DOM).</a:t>
            </a:r>
          </a:p>
          <a:p>
            <a:r>
              <a:rPr lang="en-US" dirty="0"/>
              <a:t>CSS rules are then applied to style those HTML elements.</a:t>
            </a:r>
          </a:p>
          <a:p>
            <a:r>
              <a:rPr lang="en-US" dirty="0"/>
              <a:t>A CSS rule has a </a:t>
            </a:r>
            <a:r>
              <a:rPr lang="en-US" b="1" dirty="0"/>
              <a:t>selector</a:t>
            </a:r>
            <a:r>
              <a:rPr lang="en-US" dirty="0"/>
              <a:t> (what to style) and a </a:t>
            </a:r>
            <a:r>
              <a:rPr lang="en-US" b="1" dirty="0"/>
              <a:t>declaration block </a:t>
            </a:r>
            <a:r>
              <a:rPr lang="en-US" dirty="0"/>
              <a:t>(how to style it).</a:t>
            </a:r>
          </a:p>
          <a:p>
            <a:r>
              <a:rPr lang="en-US" dirty="0"/>
              <a:t>selector { property: value; }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6249E9-FB49-DD14-6EEF-17CF6090C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02112" y="2441010"/>
            <a:ext cx="3262641" cy="33769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LEVELS OF STYLE SHEETS —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 can be applied to an HTML document in three ways.</a:t>
            </a:r>
          </a:p>
          <a:p>
            <a:r>
              <a:t>Inline CSS – written directly on an HTML element using the style attribute.</a:t>
            </a:r>
          </a:p>
          <a:p>
            <a:r>
              <a:t>Internal CSS – written inside a &lt;style&gt; tag in the document &lt;head&gt;.</a:t>
            </a:r>
          </a:p>
          <a:p>
            <a:r>
              <a:t>External CSS – written in a separate .css file and linked to the HTML document.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INLINE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Style is written directly inside the element's style attribute.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Highest priority, but hard to maintain — use sparingly.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&lt;p style="color: blue; font-size: 18px;"&gt;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Hello World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&lt;/p&gt;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INTERNAL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Written inside a &lt;style&gt; tag within the &lt;head&gt; of the document.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Applies to the entire page but not across multiple pages.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&lt;head&gt;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&lt;style&gt;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p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  color: green;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  font-size: 18px;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&lt;/style&gt;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&lt;/head&gt;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EXTERNAL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Written in a separate .css file and linked using &lt;link&gt;.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&lt;!-- index.html --&gt;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&lt;link rel="stylesheet" href="style.css"&gt;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/* style.css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p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color: purple;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font-size: 18px;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INLINE vs INTERNAL vs EXTERNAL — WHICH TO 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External CSS is the industry standard — clean separation, reusable, cacheable.</a:t>
            </a:r>
          </a:p>
          <a:p>
            <a:r>
              <a:t>Internal CSS suits single-page demos or quick prototypes.</a:t>
            </a:r>
          </a:p>
          <a:p>
            <a:r>
              <a:t>Inline CSS is best for one-off, dynamic style overrides (e.g. via JavaScript).</a:t>
            </a:r>
          </a:p>
          <a:p>
            <a:r>
              <a:t>Real-world projects almost always use external CSS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Create one HTML page and style the same &lt;h1&gt; heading three ways:</a:t>
            </a:r>
          </a:p>
          <a:p>
            <a:r>
              <a:rPr dirty="0"/>
              <a:t>using inline CSS, then internal CSS, then external CSS.</a:t>
            </a:r>
          </a:p>
          <a:p>
            <a:r>
              <a:rPr dirty="0"/>
              <a:t>Which one was fastest to write? Which is easiest to maintain in a big project?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667030"/>
          </a:xfrm>
        </p:spPr>
        <p:txBody>
          <a:bodyPr/>
          <a:lstStyle/>
          <a:p>
            <a:pPr algn="ctr"/>
            <a:r>
              <a:rPr sz="3200" b="1">
                <a:latin typeface="Times New Roman"/>
              </a:rPr>
              <a:t>CSS SYNTAX &amp; SELECTOR 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2487169"/>
            <a:ext cx="8630446" cy="2331956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SYNTAX — STYLE SPECIFICATION FORMAT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A CSS rule always follows the same specification format.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The selector chooses which element(s) to style.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Each declaration ends with a semicolon.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selector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property: value;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property: value;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SELECTOR FORMS —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selector is a pattern used to select the element(s) to style.</a:t>
            </a:r>
          </a:p>
          <a:p>
            <a:r>
              <a:rPr dirty="0"/>
              <a:t>CSS provides many selector forms: universal, type, class, id, grouping,</a:t>
            </a:r>
          </a:p>
          <a:p>
            <a:r>
              <a:rPr dirty="0"/>
              <a:t>descendant, child, attribute, pseudo-class, and pseudo-element selectors.</a:t>
            </a:r>
          </a:p>
          <a:p>
            <a:r>
              <a:rPr dirty="0"/>
              <a:t>Choosing the right selector keeps CSS short, readable, and reusable.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UNIVERSAL SELECTOR ( * 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Selects every single element on the page.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Commonly used as a CSS reset at the top of a stylesheet.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*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margin: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padding: 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box-sizing: border-box;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TYPE / ELEMENT SELECTOR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Selects all elements of a given HTML tag name.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p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line-height: 1.6;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h1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font-weight: bold;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CLASS SELECTOR ( . 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Selects all elements carrying a given class attribute.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A class can be reused on many elements.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&lt;p class="highlight"&gt;Important note&lt;/p&gt;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.highlight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background: yellow;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ID SELECTOR ( # 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Selects the single element with a given unique id attribute.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id="header"&gt;Site Header&lt;/div&gt;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#header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background: navy;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color: white;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CLASS vs ID — KEY DIFFERENCES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A class (.name) can be used on many elements; an id (#name) must be unique per page.</a:t>
            </a:r>
          </a:p>
          <a:p>
            <a:r>
              <a:rPr dirty="0"/>
              <a:t>Classes are for reusable styling; ids are for unique hooks (styling or JS targeting).</a:t>
            </a:r>
            <a:endParaRPr lang="en-US" dirty="0"/>
          </a:p>
          <a:p>
            <a:r>
              <a:rPr lang="en-US" dirty="0"/>
              <a:t>ID selectors carry higher specificity than class selectors.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GROUPING SELECTOR ( , 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Applies the same rule to multiple selectors, separated by commas.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Avoids repeating the same declaration block.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h1, h2, h3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font-family: Georgia, serif;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color: #222;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DESCENDANT SELECTOR ( space 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Selects an element that is nested anywhere inside another element.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Here, every &lt;a&gt; inside a &lt;nav&gt;, at any depth.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nav a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text-decoration: none;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CHILD SELECTOR ( &gt; 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Selects only the direct children of an element.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More specific than the descendant selector.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ul &gt; li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list-style: square;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ATTRIBUTE SELECTOR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Selects elements based on the presence or value of an attribute.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input[type="text"]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border: 1px solid gray;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a[target="_blank"]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color: red;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PSEUDO-CLASS SELECTORS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Select an element based on a special state, without adding a class in HTML.</a:t>
            </a:r>
          </a:p>
          <a:p>
            <a:r>
              <a:rPr dirty="0"/>
              <a:t>a:hover { color: orange; }  — mouse is over the link</a:t>
            </a:r>
          </a:p>
          <a:p>
            <a:r>
              <a:rPr dirty="0" err="1"/>
              <a:t>input:focus</a:t>
            </a:r>
            <a:r>
              <a:rPr dirty="0"/>
              <a:t> { outline: 2px solid blue; }  — field is focused</a:t>
            </a:r>
          </a:p>
          <a:p>
            <a:r>
              <a:rPr dirty="0" err="1"/>
              <a:t>li:first-child</a:t>
            </a:r>
            <a:r>
              <a:rPr dirty="0"/>
              <a:t>, </a:t>
            </a:r>
            <a:r>
              <a:rPr dirty="0" err="1"/>
              <a:t>li:last-child</a:t>
            </a:r>
            <a:r>
              <a:rPr dirty="0"/>
              <a:t>, </a:t>
            </a:r>
            <a:r>
              <a:rPr dirty="0" err="1"/>
              <a:t>li:nth-child</a:t>
            </a:r>
            <a:r>
              <a:rPr dirty="0"/>
              <a:t>(2)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PSEUDO-ELEMENT SELECTORS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Select and style a specific part of an element, using a double colon (::).</a:t>
            </a:r>
          </a:p>
          <a:p>
            <a:r>
              <a:rPr dirty="0"/>
              <a:t>p::first-line { font-weight: bold; }</a:t>
            </a:r>
          </a:p>
          <a:p>
            <a:r>
              <a:rPr dirty="0"/>
              <a:t>p::first-letter { font-size: 200%; }</a:t>
            </a:r>
          </a:p>
          <a:p>
            <a:r>
              <a:rPr dirty="0"/>
              <a:t>div::before / div::after — insert generated content around an element.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Style a list of navigation links using a class selector for the container</a:t>
            </a:r>
          </a:p>
          <a:p>
            <a:r>
              <a:t>and a pseudo-class (:hover) for the interactive link color change.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PROPERTY VALUE 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PROPERTY VALUE FORMS —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CSS value can be a keyword, a number, a length, a percentage, a color, or a URL.</a:t>
            </a:r>
          </a:p>
          <a:p>
            <a:r>
              <a:t>Lengths can be absolute (px, cm) or relative (%, em, rem, vw, vh).</a:t>
            </a:r>
          </a:p>
          <a:p>
            <a:r>
              <a:t>This module focuses on font, list, color, text-alignment, and background properties.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FONT PROPERTIES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Control the typeface, size, weight, and style of text.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p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font-family: 'Segoe UI', sans-serif;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font-size: 16px;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font-weight: 600;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font-style: italic;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LIST PROPERTIES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Control bullet/number style and position for &lt;ul&gt; and &lt;</a:t>
            </a:r>
            <a:r>
              <a:rPr dirty="0" err="1"/>
              <a:t>ol</a:t>
            </a:r>
            <a:r>
              <a:rPr dirty="0"/>
              <a:t>&gt;.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ul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list-style-type: square;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list-style-position: inside;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 err="1">
                <a:latin typeface="Consolas"/>
              </a:rPr>
              <a:t>ol</a:t>
            </a:r>
            <a:r>
              <a:rPr sz="1400" dirty="0"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list-style-type: upper-roman;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COLOR PROPERTIES — NAMED, HEX, RGB, HSL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CSS colors can be written in four common formats — all shown here match.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h1 { color: tomato;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h2 { color: #ff6347;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h3 { color: </a:t>
            </a:r>
            <a:r>
              <a:rPr sz="1400" dirty="0" err="1">
                <a:latin typeface="Consolas"/>
              </a:rPr>
              <a:t>rgb</a:t>
            </a:r>
            <a:r>
              <a:rPr sz="1400" dirty="0">
                <a:latin typeface="Consolas"/>
              </a:rPr>
              <a:t>(255, 99, 71);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h4 { color: </a:t>
            </a:r>
            <a:r>
              <a:rPr sz="1400" dirty="0" err="1">
                <a:latin typeface="Consolas"/>
              </a:rPr>
              <a:t>hsl</a:t>
            </a:r>
            <a:r>
              <a:rPr sz="1400" dirty="0">
                <a:latin typeface="Consolas"/>
              </a:rPr>
              <a:t>(9, 100%, 64%); 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TEXT-ALIGNMENT PROPERTIES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.center { text-align: center;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.justify { text-align: justify;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.upper { text-transform: uppercase;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.spaced { letter-spacing: 2px; }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BACKGROUND PROPERTIES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.hero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background-color: #f4f4f4;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background-image: </a:t>
            </a:r>
            <a:r>
              <a:rPr sz="1400" dirty="0" err="1">
                <a:latin typeface="Consolas"/>
              </a:rPr>
              <a:t>url</a:t>
            </a:r>
            <a:r>
              <a:rPr sz="1400" dirty="0">
                <a:latin typeface="Consolas"/>
              </a:rPr>
              <a:t>('bg.jpg');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background-size: cover;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background-repeat: no-repeat;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background-position: center;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STYLING A CARD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Combining font, color, text-alignment, and background properties together.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.card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font-family: Arial;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color: #333;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text-align: center;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background-color: #fff;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list-style: none;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 profile card: centered text, a custom font, a background color,</a:t>
            </a:r>
          </a:p>
          <a:p>
            <a:r>
              <a:rPr lang="en-US" dirty="0"/>
              <a:t>and a bulleted skills list styled with list-style-type: square.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BOX MODEL &amp; CONFLICT RESOLUTION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CSS BOX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Every HTML element is rendered as a rectangular box.</a:t>
            </a:r>
          </a:p>
          <a:p>
            <a:r>
              <a:rPr dirty="0"/>
              <a:t>The box model describes how content, padding, border, and margin add up.</a:t>
            </a:r>
          </a:p>
          <a:p>
            <a:r>
              <a:rPr dirty="0"/>
              <a:t>Total box width = content + left/right padding + left/right border + left/right margin.</a:t>
            </a:r>
          </a:p>
          <a:p>
            <a:r>
              <a:rPr dirty="0"/>
              <a:t>Understanding it is essential for controlling spacing and layout precisely.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latin typeface="Times New Roman"/>
              </a:rPr>
              <a:t>CONTENT, PADDING, BORDER, MARGIN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Content – the actual text, image, or element itself.</a:t>
            </a:r>
          </a:p>
          <a:p>
            <a:r>
              <a:t>Padding – transparent space between the content and the border.</a:t>
            </a:r>
          </a:p>
          <a:p>
            <a:r>
              <a:t>Border – a visible (or invisible) line drawn around the padding.</a:t>
            </a:r>
          </a:p>
          <a:p>
            <a:r>
              <a:t>Margin – transparent space outside the border, separating it from other elements.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box-sizing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Controls whether padding/border are added to, or included in, the width.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.content-box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box-sizing: content-box; /* default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width: 200px; padding: 20px; border: 5px solid;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renders 250px wide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.border-box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box-sizing: border-box;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width: 200px; padding: 20px; border: 5px solid;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renders exactly 200px wide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MARGIN COLLAPSING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two vertical margins meet (e.g. bottom of one box, top of the next),</a:t>
            </a:r>
          </a:p>
          <a:p>
            <a:r>
              <a:t>they collapse into a single margin equal to the larger of the two — not their sum.</a:t>
            </a:r>
          </a:p>
          <a:p>
            <a:r>
              <a:t>Only vertical margins collapse; horizontal margins never do.</a:t>
            </a:r>
          </a:p>
          <a:p>
            <a:r>
              <a:t>Adding padding, border, or display:flex on the parent can prevent collapsing.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CONFLICT RESOLUTION — SPECIFICITY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When multiple rules target the same element, specificity decides which wins.</a:t>
            </a:r>
          </a:p>
          <a:p>
            <a:r>
              <a:rPr dirty="0"/>
              <a:t>Inline styles &gt; ID selectors &gt; Class/attribute/pseudo-class selectors &gt; Type selectors.</a:t>
            </a:r>
          </a:p>
          <a:p>
            <a:r>
              <a:rPr dirty="0"/>
              <a:t>A more specific selector always overrides a less specific one, regardless of order.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CALCULATING SPECIFICITY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Specificity is scored as (inline, IDs, classes, types) — compared left to right.</a:t>
            </a:r>
          </a:p>
          <a:p>
            <a:r>
              <a:rPr dirty="0"/>
              <a:t>#nav .link  →  1 ID + 1 class  →  higher specificity</a:t>
            </a:r>
          </a:p>
          <a:p>
            <a:r>
              <a:rPr dirty="0"/>
              <a:t>nav a  →  2 type selectors  →  lower specificity</a:t>
            </a:r>
          </a:p>
          <a:p>
            <a:r>
              <a:rPr dirty="0"/>
              <a:t>So #nav .link wins over nav a, even if nav a appears later in the file.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CONFLICT RESOLUTION — INHERITANCE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Some CSS properties (color, font-family, line-height) are inherited by default</a:t>
            </a:r>
          </a:p>
          <a:p>
            <a:r>
              <a:rPr dirty="0"/>
              <a:t>from a parent element down to its children.</a:t>
            </a:r>
          </a:p>
          <a:p>
            <a:r>
              <a:rPr dirty="0"/>
              <a:t>Others (margin, padding, border, width) are NOT inherited by default.</a:t>
            </a:r>
          </a:p>
          <a:p>
            <a:r>
              <a:rPr dirty="0"/>
              <a:t>The inherit keyword can force any property to inherit from its parent.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CONFLICT RESOLUTION — THE CASCADE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“Cascading” means CSS rules cascade down through three factors, in order:</a:t>
            </a:r>
          </a:p>
          <a:p>
            <a:r>
              <a:rPr dirty="0"/>
              <a:t>1. Importance (!important rules), 2. Specificity, 3. Source order (last rule wins ties).</a:t>
            </a:r>
          </a:p>
          <a:p>
            <a:r>
              <a:rPr dirty="0"/>
              <a:t>This is why the same selector written twice — the later one applies.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 dirty="0">
                <a:latin typeface="Times New Roman"/>
              </a:rPr>
              <a:t>THE !important RULE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Forces a declaration to override normal specificity and cascade rules.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Powerful but risky — overuse makes CSS hard to debug. Use sparingly.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p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color: blue</a:t>
            </a:r>
            <a:r>
              <a:rPr lang="en-US" sz="1400" dirty="0">
                <a:latin typeface="Consolas"/>
              </a:rPr>
              <a:t> !important</a:t>
            </a:r>
            <a:r>
              <a:rPr sz="1400" dirty="0">
                <a:latin typeface="Consolas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p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color: red;  /* ignored — !important wins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Given three conflicting rules for the same &lt;p&gt; (inline, #id, and .class),</a:t>
            </a:r>
          </a:p>
          <a:p>
            <a:r>
              <a:t>predict which color wins — then verify it in the browser DevTools.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FLEXBOX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INTRODUCTION TO FLEXBOX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Flexbox (Flexible Box Layout) arranges items in a single row or column.</a:t>
            </a:r>
          </a:p>
          <a:p>
            <a:r>
              <a:rPr dirty="0"/>
              <a:t>Designed for distributing space and aligning items, even when their size is unknown.</a:t>
            </a:r>
          </a:p>
          <a:p>
            <a:r>
              <a:rPr dirty="0"/>
              <a:t>Solves problems that were painful with older float-based layouts.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FLEX CONTAINER vs FLEX ITEMS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flex container is the parent element with display: flex applied.</a:t>
            </a:r>
          </a:p>
          <a:p>
            <a:r>
              <a:t>The flex items are its direct children — they respond to the container's flex rules.</a:t>
            </a:r>
          </a:p>
          <a:p>
            <a:r>
              <a:t>The main axis runs along flex-direction; the cross axis runs perpendicular to it.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ENABLING FLEXBOX — display: flex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Turns an element into a flex container; its children become flex items.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.container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flex;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flex-direction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Sets the direction of the main axis along which items are laid out.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.container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flex-direction: row;         /* default, left to right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flex-direction: column;      top to bottom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flex-direction: row-reverse; right to left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justify-content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Aligns flex items along the main axis.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.container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justify-content: center;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flex-start | flex-end | space-between | space-around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align-items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Aligns flex items along the cross axis.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.container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align-items: center;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flex-start | flex-end | stretch | baseline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flex-wrap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Controls whether items are forced onto one line or can wrap to new lines.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.container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flex-wrap: wrap;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/* </a:t>
            </a:r>
            <a:r>
              <a:rPr sz="1400" dirty="0" err="1">
                <a:latin typeface="Consolas"/>
              </a:rPr>
              <a:t>nowrap</a:t>
            </a:r>
            <a:r>
              <a:rPr sz="1400" dirty="0">
                <a:latin typeface="Consolas"/>
              </a:rPr>
              <a:t> (default) | wrap | wrap-reverse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flex-grow, flex-shrink, flex-basis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Control how an individual flex item grows or shrinks relative to others.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.item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flex-grow: 1;   /* how much it grows to fill space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flex-shrink: 1; /* how much it shrinks if needed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flex-basis: 200px; /* starting size before growing/shrinking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gap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Adds consistent spacing between flex items, without extra margins.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.container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flex;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gap: 16px;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BUILDING A NAVBAR WITH FLEXBOX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A logo on the left, nav links on the right — a classic flexbox pattern.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.navbar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flex;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justify-content: space-between;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align-items: center;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padding: 12px 24px;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.navbar ul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flex;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gap: 20px;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Build a 3-card row that stays centered, wraps on small screens,</a:t>
            </a:r>
          </a:p>
          <a:p>
            <a:r>
              <a:rPr dirty="0"/>
              <a:t>and has equal spacing between cards using only Flexbox properties.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GRID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INTRODUCTION TO CSS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 Grid lays out items in two dimensions — rows AND columns — at once.</a:t>
            </a:r>
          </a:p>
          <a:p>
            <a:r>
              <a:t>Ideal for whole-page layouts: header, sidebar, main content, footer.</a:t>
            </a:r>
          </a:p>
          <a:p>
            <a:r>
              <a:t>Flexbox is one-dimensional; Grid is two-dimensional — they complement each other.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grid-template-columns &amp; grid-template-rows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Defines how many columns/rows the grid has, and their sizes.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fr = a fraction of the remaining available space.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.grid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grid-template-columns: 1fr 2fr 1fr;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grid-template-rows: 100px auto;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gap PROPERTY IN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Adds spacing between grid rows and columns in one line.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.grid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grid-template-columns: repeat(3, 1fr);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gap: 20px;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grid-column &amp; grid-row — SPANNING CELLS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Lets a single item stretch across multiple grid tracks.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.featured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grid-column: 1 / 3;   /* span columns 1 through 2 */</a:t>
            </a:r>
            <a:endParaRPr lang="en-IN" sz="1400" dirty="0"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400" dirty="0">
                <a:latin typeface="Consolas"/>
              </a:rPr>
              <a:t>  /* grid-column: span 2;</a:t>
            </a:r>
            <a:endParaRPr sz="1400" dirty="0"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grid-row: 1 / 3;      /* span rows 1 through 2 *</a:t>
            </a:r>
            <a:r>
              <a:rPr lang="en-US" sz="1400" dirty="0">
                <a:latin typeface="Consolas"/>
              </a:rPr>
              <a:t>/</a:t>
            </a:r>
            <a:endParaRPr lang="en-IN" sz="1400" dirty="0">
              <a:latin typeface="Consola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IN" sz="1400" dirty="0">
                <a:latin typeface="Consolas"/>
              </a:rPr>
              <a:t>  /* grid-row: span 2;	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grid-template-areas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Names regions of the grid so layout code reads like a visual map.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.layout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grid-template-areas: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"header header"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"sidebar content"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"footer footer";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.header { grid-area: header; 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A PAGE LAYOUT WITH GRID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A common sidebar + content page shell built with three lines of Grid.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body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grid-template-columns: 220px 1fr;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grid-template-rows: 80px 1fr 60px;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  min-height: 100vh;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FLEXBOX vs GRID — WHEN TO USE WHICH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Flexbox for one-dimensional layouts — navbars, button groups, card rows.</a:t>
            </a:r>
          </a:p>
          <a:p>
            <a:r>
              <a:t>Use Grid for two-dimensional layouts — whole pages, photo galleries, dashboards.</a:t>
            </a:r>
          </a:p>
          <a:p>
            <a:r>
              <a:t>They are often combined: Grid for the page shell, Flexbox inside each grid cell.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Recreate a blog layout — header, sidebar, main article, footer —</a:t>
            </a:r>
          </a:p>
          <a:p>
            <a:r>
              <a:rPr dirty="0"/>
              <a:t>using grid-template-areas, then compare it with a Flexbox-only attempt.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CSS3 VISUAL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box-shadow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dirty="0"/>
              <a:t>Adds a drop shadow around an element's box — great for depth and cards.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.card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dirty="0">
                <a:latin typeface="Consolas"/>
              </a:rPr>
              <a:t>  box-shadow: 0 4px 12px </a:t>
            </a:r>
            <a:r>
              <a:rPr lang="en-US" sz="1400" dirty="0" err="1">
                <a:latin typeface="Consolas"/>
              </a:rPr>
              <a:t>rgba</a:t>
            </a:r>
            <a:r>
              <a:rPr lang="en-US" sz="1400" dirty="0">
                <a:latin typeface="Consolas"/>
              </a:rPr>
              <a:t>(0,0,0,0.15);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dirty="0">
                <a:latin typeface="Consolas"/>
              </a:rPr>
              <a:t>  /* offset-x offset-y blur-radius color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 dirty="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opacity PROPERTY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Controls the transparency of an entire element, including its children.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.overlay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opacity: 0.6; /* 0 = fully transparent, 1 = fully opaque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ROUNDED CORNERS — border-radius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.button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border-radius: 8px;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.avatar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border-radius: 50%; /* makes a perfect circle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TRANSITIONS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Smoothly animates a property change over a set duration.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.button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background: royalblue;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transition: background 0.3s ease;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.button:hover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background: darkblue;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ANIMATIONS — @keyframes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Defines multi-step animations, replayed automatically without JavaScript.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@keyframes spin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from { transform: rotate(0deg);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to   { transform: rotate(360deg);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.loader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animation: spin 1s linear infinite;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A BUTTON HOVER TRANSITION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.btn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padding: 10px 20px;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border-radius: 6px;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transition: transform 0.2s, box-shadow 0.2s;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.btn:hover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transform: translateY(-3px);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box-shadow: 0 6px 14px rgba(0,0,0,0.2);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A LOADING SPINNER ANIMATION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.spinner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width: 40px; height: 40px;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border: 4px solid #eee;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border-top: 4px solid royalblue;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border-radius: 50%;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animation: spin 0.8s linear infinite;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a card that lifts up with a shadow on hover, using only</a:t>
            </a:r>
          </a:p>
          <a:p>
            <a:r>
              <a:t>box-shadow, transform, and transition — no JavaScript required.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VARIABLES &amp; RESPONSIVE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CSS VARIABLES (CUSTOM PROPERTIES)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Custom properties let you store a value once and reuse it throughout a stylesheet.</a:t>
            </a:r>
          </a:p>
          <a:p>
            <a:r>
              <a:t>Written with a double-hyphen prefix: --main-color.</a:t>
            </a:r>
          </a:p>
          <a:p>
            <a:r>
              <a:t>Change the value in one place and it updates everywhere it's used — like theming.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DECLARING &amp; USING VARIABLES — :root AND var()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:root defines variables globally, available to the whole page.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:root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--primary-color: #4f46e5;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--spacing: 16px;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.button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background: var(--primary-color);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padding: var(--spacing);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A THEME WITH CSS VARIABLES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Swapping one attribute value can re-theme an entire site instantly.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:root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--bg: #ffffff;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--text: #111111;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[data-theme='dark']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--bg: #111111;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--text: #ffffff;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body { background: var(--bg); color: var(--text); }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MEDIA QUERIES — 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media query applies CSS rules only when the viewport matches a condition.</a:t>
            </a:r>
          </a:p>
          <a:p>
            <a:r>
              <a:t>Lets one HTML page carry multiple layouts for phones, tablets, and desktops.</a:t>
            </a:r>
          </a:p>
          <a:p>
            <a:r>
              <a:t>The foundation of responsive web design.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MEDIA QUERY SYNTAX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The block inside only applies when the condition is true.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@media (max-width: 768px)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.sidebar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display: none;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COMMON BREAKPOINTS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Mobile phones: up to ~576px wide</a:t>
            </a:r>
          </a:p>
          <a:p>
            <a:r>
              <a:t>Tablets: ~577px – 992px wide</a:t>
            </a:r>
          </a:p>
          <a:p>
            <a:r>
              <a:t>Laptops / desktops: ~993px and above</a:t>
            </a:r>
          </a:p>
          <a:p>
            <a:r>
              <a:t>Breakpoints are guidelines, not fixed rules — design for the content, not the device.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MOBILE-FIRST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Write the base CSS for the smallest screen first.</a:t>
            </a:r>
          </a:p>
          <a:p>
            <a:r>
              <a:t>Then use min-width media queries to progressively add complexity for larger screens.</a:t>
            </a:r>
          </a:p>
          <a:p>
            <a:r>
              <a:t>Results in leaner CSS and a better experience on the most constrained devices.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A RESPONSIVE MEDIA QUERY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One column on mobile, three columns from tablet width upward.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.cards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display: grid;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grid-template-columns: 1fr;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@media (min-width: 768px)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.cards 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grid-template-columns: repeat(3, 1fr);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Take a 3-column card layout and make it collapse to a single column</a:t>
            </a:r>
          </a:p>
          <a:p>
            <a:r>
              <a:t>below 600px width, using a mobile-first media query.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INTRODUCTION TO BOOTSTRAP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Bootstrap is the world's most popular CSS framework for responsive websites.</a:t>
            </a:r>
          </a:p>
          <a:p>
            <a:r>
              <a:t>Provides ready-made, pre-styled components: buttons, navbars, cards, forms, and more.</a:t>
            </a:r>
          </a:p>
          <a:p>
            <a:r>
              <a:t>Built on a 12-column responsive grid system.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WHY USE A CSS FRAMEWORK?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Saves time — no need to write layout and component CSS from scratch.</a:t>
            </a:r>
          </a:p>
          <a:p>
            <a:r>
              <a:t>Cross-browser tested and consistent across devices.</a:t>
            </a:r>
          </a:p>
          <a:p>
            <a:r>
              <a:t>Built-in responsiveness and accessibility considerations.</a:t>
            </a:r>
          </a:p>
          <a:p>
            <a:r>
              <a:t>Trade-off: sites can look similar unless customized.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SETTING UP BOOTSTRAP — CDN vs NPM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&lt;!-- Option 1: CDN (fastest to start) --&gt;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&lt;link href="https://cdn.jsdelivr.net/npm/bootstrap@5.3/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dist/css/bootstrap.min.css" rel="stylesheet"&gt;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&lt;!-- Option 2: npm (for build tools like Vite) --&gt;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npm install bootstrap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BOOTSTRAP GRID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Based on a 12-column layout inside rows and containers.</a:t>
            </a:r>
          </a:p>
          <a:p>
            <a:r>
              <a:t>Column widths are set using classes like col-md-6, col-lg-4.</a:t>
            </a:r>
          </a:p>
          <a:p>
            <a:r>
              <a:t>Columns automatically stack on smaller screens unless told otherwise.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CONTAINERS IN BOOTSTRAP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Every Bootstrap layout starts inside a container.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class="container"&gt;...&lt;/div&gt;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&lt;!-- fixed max-width per breakpoint --&gt;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class="container-fluid"&gt;...&lt;/div&gt;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&lt;!-- always 100% width --&gt;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ROWS AND COLUMNS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Two equal-width columns on medium screens and up.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class="container"&gt;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&lt;div class="row"&gt;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&lt;div class="col-md-6"&gt;Left&lt;/div&gt;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&lt;div class="col-md-6"&gt;Right&lt;/div&gt;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BREAKPOINTS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sm ≥ 576px    md ≥ 768px    lg ≥ 992px    xl ≥ 1200px    xxl ≥ 1400px</a:t>
            </a:r>
          </a:p>
          <a:p>
            <a:r>
              <a:t>A class like col-lg-4 applies from the lg breakpoint upward.</a:t>
            </a:r>
          </a:p>
          <a:p>
            <a:r>
              <a:t>Combine breakpoints for full responsiveness: col-12 col-md-6 col-lg-4.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NAVBAR COMPONENT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&lt;nav class="navbar navbar-expand-lg navbar-dark bg-dark"&gt;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&lt;div class="container-fluid"&gt;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&lt;a class="navbar-brand" href="#"&gt;Brand&lt;/a&gt;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&lt;/nav&gt;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BUTTONS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&lt;button class="btn btn-primary"&gt;Primary&lt;/button&gt;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&lt;button class="btn btn-success"&gt;Success&lt;/button&gt;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&lt;button class="btn btn-outline-danger"&gt;Danger&lt;/button&gt;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class="card" style="width: 18rem;"&gt;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&lt;div class="card-body"&gt;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&lt;h5 class="card-title"&gt;Card title&lt;/h5&gt;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  &lt;p class="card-text"&gt;Some text content.&lt;/p&gt;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&lt;form&gt;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&lt;label class="form-label"&gt;Email&lt;/label&gt;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&lt;input type="email" class="form-control"&gt;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&lt;button class="btn btn-primary mt-2"&gt;Submit&lt;/button&gt;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&lt;/form&gt;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UTILITY CLASSES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Small single-purpose classes for spacing, text, color, borders, shadows.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mt-3 = margin-top, p-2 = padding, text-center, bg-light, rounded, shadow-sm.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class="mt-3 p-2 text-center bg-light rounded shadow-sm"&gt;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Utility classes in action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EXAMPLE — A BOOTSTRAP CARD LAYOUT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Three responsive cards per row, one per row on mobile.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class="row row-cols-1 row-cols-md-3 g-4"&gt;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&lt;div class="col"&gt;&lt;div class="card"&gt;Card 1&lt;/div&gt;&lt;/div&gt;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&lt;div class="col"&gt;&lt;div class="card"&gt;Card 2&lt;/div&gt;&lt;/div&gt;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&lt;div class="col"&gt;&lt;div class="card"&gt;Card 3&lt;/div&gt;&lt;/div&gt;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Build a responsive 3-card pricing section using Bootstrap's grid,</a:t>
            </a:r>
          </a:p>
          <a:p>
            <a:r>
              <a:t>card component, and utility classes only — no custom CSS.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TAILWIND CSS BASICS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INTRODUCTION TO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Tailwind CSS is a utility-first CSS framework — no pre-built components.</a:t>
            </a:r>
          </a:p>
          <a:p>
            <a:r>
              <a:t>You compose designs directly in HTML using small, single-purpose utility classes.</a:t>
            </a:r>
          </a:p>
          <a:p>
            <a:r>
              <a:t>Highly customizable and produces small production CSS files.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UTILITY-FIRST CSS — THE CONCEPT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Instead of writing custom CSS classes, you style directly with utilities.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bg-blue-600 = background, px-4/py-2 = padding, rounded = border-radius.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&lt;button class="bg-blue-600 text-white px-4 py-2 rounded"&gt;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Click Me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&lt;/button&gt;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SETTING UP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npm install -D tailwindcss postcss autoprefixer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npx tailwindcss init -p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/* input.css */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@tailwind base;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@tailwind components;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@tailwind utilities;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SPACING UTILITIES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p-4   → padding: 1rem (all sides)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px-6  → padding-left &amp; right: 1.5rem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mt-2  → margin-top: 0.5rem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gap-4 → gap: 1rem (flex/grid)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COLOR &amp; TYPOGRAPHY UTILITIES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text-gray-700   → text color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bg-indigo-500   → background color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font-bold       → font-weight: 700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text-2xl        → font-size: 1.5rem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RESPONSIVE DESIGN IN TAILWIND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Breakpoint prefixes (sm:, md:, lg:, xl:) apply a class from that width up.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One column by default, three columns from md breakpoint upward.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class="grid grid-cols-1 md:grid-cols-3 gap-4"&gt;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...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TAILWIND BUTTONS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&lt;button class="bg-emerald-600 hover:bg-emerald-700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text-white font-semibold px-5 py-2 rounded-lg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transition"&gt;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Get Started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&lt;/button&gt;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TAILWIND 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&lt;input type="text" placeholder="Your name"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class="border border-gray-300 rounded px-3 py-2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w-full focus:outline-none focus:ring-2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focus:ring-blue-400"&gt;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TAILWIND CARDS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&lt;div class="max-w-sm rounded-lg shadow-md p-6 bg-white"&gt;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&lt;h3 class="text-xl font-bold mb-2"&gt;Card Title&lt;/h3&gt;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  &lt;p class="text-gray-600"&gt;Card description text.&lt;/p&gt;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&lt;/div&gt;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BOOTSTRAP vs TAILWIND CSS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Bootstrap ships ready-made components; Tailwind ships utility classes only.</a:t>
            </a:r>
          </a:p>
          <a:p>
            <a:r>
              <a:t>Bootstrap sites can look similar out of the box; Tailwind designs are more custom.</a:t>
            </a:r>
          </a:p>
          <a:p>
            <a:r>
              <a:t>Tailwind has a steeper learning curve but gives finer visual control.</a:t>
            </a:r>
          </a:p>
          <a:p>
            <a:r>
              <a:t>Both are fully responsive and widely used in industry projects.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Rebuild the earlier Bootstrap pricing-card section using only Tailwind</a:t>
            </a:r>
          </a:p>
          <a:p>
            <a:r>
              <a:t>utility classes, and compare the resulting HTML and CSS file sizes.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GIT &amp; GITHUB ESSENTIALS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INTRODUCTION TO VERSION CONTROL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Version control tracks changes to files over time.</a:t>
            </a:r>
          </a:p>
          <a:p>
            <a:r>
              <a:t>Lets multiple people collaborate on the same codebase safely.</a:t>
            </a:r>
          </a:p>
          <a:p>
            <a:r>
              <a:t>Enables reverting to earlier versions if something breaks.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WHAT IS GIT?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is a free, open-source, distributed version control system.</a:t>
            </a:r>
          </a:p>
          <a:p>
            <a:r>
              <a:t>Every developer has a full copy of the project history on their own machine.</a:t>
            </a:r>
          </a:p>
          <a:p>
            <a:r>
              <a:t>Tracks changes through commits — labeled snapshots of the project.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WHAT IS GITHUB?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GitHub is a cloud platform for hosting Git repositories online.</a:t>
            </a:r>
          </a:p>
          <a:p>
            <a:r>
              <a:t>Adds collaboration features: pull requests, issues, code review, project boards.</a:t>
            </a:r>
          </a:p>
          <a:p>
            <a:r>
              <a:t>Git is the tool; GitHub is a place to host and collaborate using that tool.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INSTALLING &amp; CONFIGURING GIT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--version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config --global user.name "Your Name"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config --global user.email "you@example.com"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BASIC GIT COMMANDS — init, add, commit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init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add index.html style.css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add .            # stage everything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commit -m "Initial commit"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CHECKING STATUS AND HISTORY — status, log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status   # see changed/staged files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log      # view commit history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log --oneline   # compact history view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BRANCHING IN GIT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A branch is an independent line of development, isolated from main.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branch feature-navbar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checkout feature-navbar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checkout -b feature-navbar   # create + switch in one step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MERGING BRANCHES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Combines the changes from one branch into another.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t>Conflicts occur when the same lines were changed differently — resolve manually.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checkout main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merge feature-navbar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REMOTE REPOSITORIES — clone, push, pull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clone https://github.com/user/repo.git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push origin main    # send local commits to GitHub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git pull origin main    # fetch + merge latest changes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GITHUB WORKFLOW — FORK &amp; PULL REQUEST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Fork — copy someone else's repository into your own account.</a:t>
            </a:r>
          </a:p>
          <a:p>
            <a:r>
              <a:t>Branch — create a feature branch for your change.</a:t>
            </a:r>
          </a:p>
          <a:p>
            <a:r>
              <a:t>Pull Request (PR) — propose merging your branch back, with review and discussion.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THE .gitignore FILE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t>Tells Git which files/folders to never track (secrets, build output, deps).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# .gitignore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node_modules/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.env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dist/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1400">
                <a:latin typeface="Consolas"/>
              </a:rPr>
              <a:t>*.log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Quick Challenge!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 GitHub repository, push your Module 2 practice project to it,</a:t>
            </a:r>
          </a:p>
          <a:p>
            <a:r>
              <a:t>then create a feature branch, make a change, and open a pull request.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ENGINEERING APPLICATION &amp;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ENGINEERING APPLICATION — RESPONSIVE WEBPAGE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Design and build a responsive webpage using CSS, Flexbox/Grid,</a:t>
            </a:r>
          </a:p>
          <a:p>
            <a:r>
              <a:t>and a framework of choice (Bootstrap or Tailwind CSS).</a:t>
            </a:r>
          </a:p>
          <a:p>
            <a:r>
              <a:t>The page should adapt cleanly across mobile, tablet, and desktop widths.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BUILDING REUSABLE UI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 reusable components: a navbar, product/profile cards, and a form.</a:t>
            </a:r>
          </a:p>
          <a:p>
            <a:r>
              <a:t>Keep styling consistent using CSS variables or a framework's utility classes.</a:t>
            </a:r>
          </a:p>
          <a:p>
            <a:r>
              <a:t>Push the finished project to GitHub with clear, incremental commits.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MODULE 2 — KEY TAKEAWAYS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CSS3 controls layout and appearance; selectors and specificity decide what applies.</a:t>
            </a:r>
          </a:p>
          <a:p>
            <a:r>
              <a:t>Flexbox handles 1D layouts; CSS Grid handles 2D page layouts.</a:t>
            </a:r>
          </a:p>
          <a:p>
            <a:r>
              <a:t>Media queries and mobile-first design make pages responsive.</a:t>
            </a:r>
          </a:p>
          <a:p>
            <a:r>
              <a:t>Bootstrap and Tailwind speed up styling with components or utilities respectively.</a:t>
            </a:r>
          </a:p>
          <a:p>
            <a:r>
              <a:t>Git and GitHub enable safe, collaborative, version-controlled development.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 b="1">
                <a:latin typeface="Times New Roman"/>
              </a:rP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Full Stack Professional">
      <a:dk1>
        <a:srgbClr val="1F2937"/>
      </a:dk1>
      <a:lt1>
        <a:srgbClr val="FFFFFF"/>
      </a:lt1>
      <a:dk2>
        <a:srgbClr val="12233F"/>
      </a:dk2>
      <a:lt2>
        <a:srgbClr val="F1F5F9"/>
      </a:lt2>
      <a:accent1>
        <a:srgbClr val="0D9488"/>
      </a:accent1>
      <a:accent2>
        <a:srgbClr val="2563EB"/>
      </a:accent2>
      <a:accent3>
        <a:srgbClr val="0F172A"/>
      </a:accent3>
      <a:accent4>
        <a:srgbClr val="64748B"/>
      </a:accent4>
      <a:accent5>
        <a:srgbClr val="D97706"/>
      </a:accent5>
      <a:accent6>
        <a:srgbClr val="94A3B8"/>
      </a:accent6>
      <a:hlink>
        <a:srgbClr val="0D9488"/>
      </a:hlink>
      <a:folHlink>
        <a:srgbClr val="64748B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5334</Words>
  <Application>Microsoft Office PowerPoint</Application>
  <PresentationFormat>Widescreen</PresentationFormat>
  <Paragraphs>711</Paragraphs>
  <Slides>132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132</vt:i4>
      </vt:variant>
    </vt:vector>
  </HeadingPairs>
  <TitlesOfParts>
    <vt:vector size="139" baseType="lpstr">
      <vt:lpstr>Consolas</vt:lpstr>
      <vt:lpstr>Gill Sans</vt:lpstr>
      <vt:lpstr>Arial</vt:lpstr>
      <vt:lpstr>Calibri</vt:lpstr>
      <vt:lpstr>Times New Roman</vt:lpstr>
      <vt:lpstr>Cambria</vt:lpstr>
      <vt:lpstr>Gallery</vt:lpstr>
      <vt:lpstr>AI-POWERED FULL STACK  DEVELOPMENT  Year: 2026-27 Semester: 3  Module 2 CSS3, Bootstrap &amp; Tailwind CSS</vt:lpstr>
      <vt:lpstr>CSS3 FUNDAMENTALS</vt:lpstr>
      <vt:lpstr>INTRODUCTION TO CSS3</vt:lpstr>
      <vt:lpstr>WHY DO WE NEED CSS?</vt:lpstr>
      <vt:lpstr>PowerPoint Presentation</vt:lpstr>
      <vt:lpstr>HOW CSS WORKS WITH HTML</vt:lpstr>
      <vt:lpstr>LEVELS OF STYLE SHEETS — OVERVIEW</vt:lpstr>
      <vt:lpstr>INLINE CSS</vt:lpstr>
      <vt:lpstr>INTERNAL CSS</vt:lpstr>
      <vt:lpstr>EXTERNAL CSS</vt:lpstr>
      <vt:lpstr>INLINE vs INTERNAL vs EXTERNAL — WHICH TO USE</vt:lpstr>
      <vt:lpstr>Quick Challenge!</vt:lpstr>
      <vt:lpstr>CSS SYNTAX &amp; SELECTOR FORMS</vt:lpstr>
      <vt:lpstr>CSS SYNTAX — STYLE SPECIFICATION FORMAT</vt:lpstr>
      <vt:lpstr>SELECTOR FORMS — OVERVIEW</vt:lpstr>
      <vt:lpstr>THE UNIVERSAL SELECTOR ( * )</vt:lpstr>
      <vt:lpstr>TYPE / ELEMENT SELECTOR</vt:lpstr>
      <vt:lpstr>CLASS SELECTOR ( . )</vt:lpstr>
      <vt:lpstr>ID SELECTOR ( # )</vt:lpstr>
      <vt:lpstr>CLASS vs ID — KEY DIFFERENCES</vt:lpstr>
      <vt:lpstr>GROUPING SELECTOR ( , )</vt:lpstr>
      <vt:lpstr>DESCENDANT SELECTOR ( space )</vt:lpstr>
      <vt:lpstr>CHILD SELECTOR ( &gt; )</vt:lpstr>
      <vt:lpstr>ATTRIBUTE SELECTOR</vt:lpstr>
      <vt:lpstr>PSEUDO-CLASS SELECTORS</vt:lpstr>
      <vt:lpstr>PSEUDO-ELEMENT SELECTORS</vt:lpstr>
      <vt:lpstr>Quick Challenge!</vt:lpstr>
      <vt:lpstr>CSS PROPERTY VALUE FORMS</vt:lpstr>
      <vt:lpstr>PROPERTY VALUE FORMS — OVERVIEW</vt:lpstr>
      <vt:lpstr>FONT PROPERTIES</vt:lpstr>
      <vt:lpstr>LIST PROPERTIES</vt:lpstr>
      <vt:lpstr>COLOR PROPERTIES — NAMED, HEX, RGB, HSL</vt:lpstr>
      <vt:lpstr>TEXT-ALIGNMENT PROPERTIES</vt:lpstr>
      <vt:lpstr>BACKGROUND PROPERTIES</vt:lpstr>
      <vt:lpstr>EXAMPLE — STYLING A CARD</vt:lpstr>
      <vt:lpstr>Quick Challenge!</vt:lpstr>
      <vt:lpstr>CSS BOX MODEL &amp; CONFLICT RESOLUTION</vt:lpstr>
      <vt:lpstr>THE CSS BOX MODEL</vt:lpstr>
      <vt:lpstr>CONTENT, PADDING, BORDER, MARGIN</vt:lpstr>
      <vt:lpstr>THE box-sizing PROPERTY</vt:lpstr>
      <vt:lpstr>MARGIN COLLAPSING</vt:lpstr>
      <vt:lpstr>CONFLICT RESOLUTION — SPECIFICITY</vt:lpstr>
      <vt:lpstr>CALCULATING SPECIFICITY</vt:lpstr>
      <vt:lpstr>CONFLICT RESOLUTION — INHERITANCE</vt:lpstr>
      <vt:lpstr>CONFLICT RESOLUTION — THE CASCADE</vt:lpstr>
      <vt:lpstr>THE !important RULE</vt:lpstr>
      <vt:lpstr>Quick Challenge!</vt:lpstr>
      <vt:lpstr>FLEXBOX LAYOUT</vt:lpstr>
      <vt:lpstr>INTRODUCTION TO FLEXBOX</vt:lpstr>
      <vt:lpstr>FLEX CONTAINER vs FLEX ITEMS</vt:lpstr>
      <vt:lpstr>ENABLING FLEXBOX — display: flex</vt:lpstr>
      <vt:lpstr>flex-direction PROPERTY</vt:lpstr>
      <vt:lpstr>justify-content PROPERTY</vt:lpstr>
      <vt:lpstr>align-items PROPERTY</vt:lpstr>
      <vt:lpstr>flex-wrap PROPERTY</vt:lpstr>
      <vt:lpstr>flex-grow, flex-shrink, flex-basis</vt:lpstr>
      <vt:lpstr>THE gap PROPERTY</vt:lpstr>
      <vt:lpstr>EXAMPLE — BUILDING A NAVBAR WITH FLEXBOX</vt:lpstr>
      <vt:lpstr>Quick Challenge!</vt:lpstr>
      <vt:lpstr>CSS GRID LAYOUT</vt:lpstr>
      <vt:lpstr>INTRODUCTION TO CSS GRID</vt:lpstr>
      <vt:lpstr>grid-template-columns &amp; grid-template-rows</vt:lpstr>
      <vt:lpstr>THE gap PROPERTY IN GRID</vt:lpstr>
      <vt:lpstr>grid-column &amp; grid-row — SPANNING CELLS</vt:lpstr>
      <vt:lpstr>grid-template-areas</vt:lpstr>
      <vt:lpstr>EXAMPLE — A PAGE LAYOUT WITH GRID</vt:lpstr>
      <vt:lpstr>FLEXBOX vs GRID — WHEN TO USE WHICH</vt:lpstr>
      <vt:lpstr>Quick Challenge!</vt:lpstr>
      <vt:lpstr>CSS3 VISUAL FEATURES</vt:lpstr>
      <vt:lpstr>box-shadow PROPERTY</vt:lpstr>
      <vt:lpstr>opacity PROPERTY</vt:lpstr>
      <vt:lpstr>ROUNDED CORNERS — border-radius</vt:lpstr>
      <vt:lpstr>CSS TRANSITIONS</vt:lpstr>
      <vt:lpstr>CSS ANIMATIONS — @keyframes</vt:lpstr>
      <vt:lpstr>EXAMPLE — A BUTTON HOVER TRANSITION</vt:lpstr>
      <vt:lpstr>EXAMPLE — A LOADING SPINNER ANIMATION</vt:lpstr>
      <vt:lpstr>Quick Challenge!</vt:lpstr>
      <vt:lpstr>CSS VARIABLES &amp; RESPONSIVE DESIGN</vt:lpstr>
      <vt:lpstr>CSS VARIABLES (CUSTOM PROPERTIES)</vt:lpstr>
      <vt:lpstr>DECLARING &amp; USING VARIABLES — :root AND var()</vt:lpstr>
      <vt:lpstr>EXAMPLE — A THEME WITH CSS VARIABLES</vt:lpstr>
      <vt:lpstr>MEDIA QUERIES — RECAP</vt:lpstr>
      <vt:lpstr>MEDIA QUERY SYNTAX</vt:lpstr>
      <vt:lpstr>COMMON BREAKPOINTS</vt:lpstr>
      <vt:lpstr>MOBILE-FIRST DESIGN</vt:lpstr>
      <vt:lpstr>EXAMPLE — A RESPONSIVE MEDIA QUERY</vt:lpstr>
      <vt:lpstr>Quick Challenge!</vt:lpstr>
      <vt:lpstr>BOOTSTRAP BASICS</vt:lpstr>
      <vt:lpstr>INTRODUCTION TO BOOTSTRAP</vt:lpstr>
      <vt:lpstr>WHY USE A CSS FRAMEWORK?</vt:lpstr>
      <vt:lpstr>SETTING UP BOOTSTRAP — CDN vs NPM</vt:lpstr>
      <vt:lpstr>THE BOOTSTRAP GRID SYSTEM</vt:lpstr>
      <vt:lpstr>CONTAINERS IN BOOTSTRAP</vt:lpstr>
      <vt:lpstr>ROWS AND COLUMNS</vt:lpstr>
      <vt:lpstr>BOOTSTRAP BREAKPOINTS</vt:lpstr>
      <vt:lpstr>BOOTSTRAP NAVBAR COMPONENT</vt:lpstr>
      <vt:lpstr>BOOTSTRAP BUTTONS</vt:lpstr>
      <vt:lpstr>BOOTSTRAP CARDS</vt:lpstr>
      <vt:lpstr>BOOTSTRAP FORMS</vt:lpstr>
      <vt:lpstr>BOOTSTRAP UTILITY CLASSES</vt:lpstr>
      <vt:lpstr>EXAMPLE — A BOOTSTRAP CARD LAYOUT</vt:lpstr>
      <vt:lpstr>Quick Challenge!</vt:lpstr>
      <vt:lpstr>TAILWIND CSS BASICS</vt:lpstr>
      <vt:lpstr>INTRODUCTION TO TAILWIND CSS</vt:lpstr>
      <vt:lpstr>UTILITY-FIRST CSS — THE CONCEPT</vt:lpstr>
      <vt:lpstr>SETTING UP TAILWIND CSS</vt:lpstr>
      <vt:lpstr>SPACING UTILITIES</vt:lpstr>
      <vt:lpstr>COLOR &amp; TYPOGRAPHY UTILITIES</vt:lpstr>
      <vt:lpstr>RESPONSIVE DESIGN IN TAILWIND</vt:lpstr>
      <vt:lpstr>TAILWIND BUTTONS</vt:lpstr>
      <vt:lpstr>TAILWIND FORMS</vt:lpstr>
      <vt:lpstr>TAILWIND CARDS</vt:lpstr>
      <vt:lpstr>BOOTSTRAP vs TAILWIND CSS</vt:lpstr>
      <vt:lpstr>Quick Challenge!</vt:lpstr>
      <vt:lpstr>GIT &amp; GITHUB ESSENTIALS</vt:lpstr>
      <vt:lpstr>INTRODUCTION TO VERSION CONTROL</vt:lpstr>
      <vt:lpstr>WHAT IS GIT?</vt:lpstr>
      <vt:lpstr>WHAT IS GITHUB?</vt:lpstr>
      <vt:lpstr>INSTALLING &amp; CONFIGURING GIT</vt:lpstr>
      <vt:lpstr>BASIC GIT COMMANDS — init, add, commit</vt:lpstr>
      <vt:lpstr>CHECKING STATUS AND HISTORY — status, log</vt:lpstr>
      <vt:lpstr>BRANCHING IN GIT</vt:lpstr>
      <vt:lpstr>MERGING BRANCHES</vt:lpstr>
      <vt:lpstr>REMOTE REPOSITORIES — clone, push, pull</vt:lpstr>
      <vt:lpstr>THE GITHUB WORKFLOW — FORK &amp; PULL REQUEST</vt:lpstr>
      <vt:lpstr>THE .gitignore FILE</vt:lpstr>
      <vt:lpstr>Quick Challenge!</vt:lpstr>
      <vt:lpstr>ENGINEERING APPLICATION &amp; SUMMARY</vt:lpstr>
      <vt:lpstr>ENGINEERING APPLICATION — RESPONSIVE WEBPAGE PROJECT</vt:lpstr>
      <vt:lpstr>BUILDING REUSABLE UI COMPONENTS</vt:lpstr>
      <vt:lpstr>MODULE 2 — KEY TAKEAWAYS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FULL STACK  DEVELOPMENT_x000d__x000d_Year: 2026-27   _x000d_Semester: 3_x000d_      _x000d_Module 1_x000d_HTML5 &amp; Responsive layouts</dc:title>
  <dc:creator>Deepak H G</dc:creator>
  <cp:lastModifiedBy>Deepanshu Bhargav</cp:lastModifiedBy>
  <cp:revision>19</cp:revision>
  <dcterms:created xsi:type="dcterms:W3CDTF">2026-07-26T10:59:00Z</dcterms:created>
  <dcterms:modified xsi:type="dcterms:W3CDTF">2026-10-05T09:50:43Z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1033-12.1.0.27458</vt:lpwstr>
  </property>
  <property fmtid="{D5CDD505-2E9C-101B-9397-08002B2CF9AE}" pid="3" name="ICV">
    <vt:lpwstr>3BEC318087EB400B9936AD99AF67A176_13</vt:lpwstr>
  </property>
</Properties>
</file>